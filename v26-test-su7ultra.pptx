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14400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0" y="0"/>
            <a:ext cx="54864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XIAOMI · SU7 ULTRA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01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v26 BID-WINNING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0">
                <a:solidFill>
                  <a:srgbClr val="FFFFFF"/>
                </a:solidFill>
              </a:defRPr>
            </a:pPr>
            <a:r>
              <a:t>ULTRA IN MOTION</a:t>
            </a:r>
            <a:br/>
            <a:r>
              <a:t>城市即赛道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2004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BBBBB"/>
                </a:solidFill>
              </a:defRPr>
            </a:pPr>
            <a:r>
              <a:t>SU7 Ultra 高性能智能出行发布会 · 创意投标方案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Youngs Group · v26 Bid-Winning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02 / 10 · Brief响应矩阵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BRIEF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D0D0D"/>
                </a:solidFill>
              </a:defRPr>
            </a:pPr>
            <a:r>
              <a:t>Brief 七层拆解 → 逐项映射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128016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Hard Req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高性能旗舰心智建立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P04-P05 项目目标+破题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✅ 视觉+数据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920240"/>
            <a:ext cx="3474720" cy="128016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201168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Soft Exp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240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性能转译为可感知体验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5786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P06-P08 空间+主舞台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81635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✅ 效果图证据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1920240"/>
            <a:ext cx="3474720" cy="128016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201168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240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创意高度+视觉呈现+执行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5786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P05/P07/P09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81635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✅ 全维度覆盖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29000"/>
            <a:ext cx="3474720" cy="128016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490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城市赛道≠赛车场安全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8736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P09 风险控制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251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✅ 安全矩阵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3429000"/>
            <a:ext cx="3474720" cy="128016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9976" y="35204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Budget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37490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主舞台+体验区+传播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9976" y="408736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P10 预算逻辑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43251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✅ 取舍说明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36992" y="3429000"/>
            <a:ext cx="3474720" cy="128016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4152" y="35204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Timeline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37490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8周倒计时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408736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P10 执行排期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43251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✅ 里程碑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03 / 10 · 决策者矩阵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DECISION-MAKER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六类决策者 → 对应安心页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900"/>
                </a:solidFill>
              </a:defRPr>
            </a:pPr>
            <a:r>
              <a:t>品牌负责人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BBBBBB"/>
                </a:solidFill>
              </a:defRPr>
            </a:pPr>
            <a:r>
              <a:t>品牌定位/Big Idea</a:t>
            </a:r>
            <a:br/>
            <a:r>
              <a:t>传播价值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P01/P04-P05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004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看气质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9202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0116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900"/>
                </a:solidFill>
              </a:defRPr>
            </a:pPr>
            <a:r>
              <a:t>产品负责人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331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BBBBBB"/>
                </a:solidFill>
              </a:defRPr>
            </a:pPr>
            <a:r>
              <a:t>性能数据/技术证明</a:t>
            </a:r>
            <a:br/>
            <a:r>
              <a:t>产品节奏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32004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P04/P07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看数据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19202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20116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900"/>
                </a:solidFill>
              </a:defRPr>
            </a:pPr>
            <a:r>
              <a:t>导演组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331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BBBBBB"/>
                </a:solidFill>
              </a:defRPr>
            </a:pPr>
            <a:r>
              <a:t>舞美/灯光/视频</a:t>
            </a:r>
            <a:br/>
            <a:r>
              <a:t>流程卡点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2004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P06-P08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32004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看执行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900"/>
                </a:solidFill>
              </a:defRPr>
            </a:pPr>
            <a:r>
              <a:t>运营负责人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BBBBBB"/>
                </a:solidFill>
              </a:defRPr>
            </a:pPr>
            <a:r>
              <a:t>动线/安保/后台</a:t>
            </a:r>
            <a:br/>
            <a:r>
              <a:t>现场秩序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P09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4864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看落地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42062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6" y="42976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900"/>
                </a:solidFill>
              </a:defRPr>
            </a:pPr>
            <a:r>
              <a:t>采购/财务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4617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BBBBBB"/>
                </a:solidFill>
              </a:defRPr>
            </a:pPr>
            <a:r>
              <a:t>预算合理性/模块拆分</a:t>
            </a:r>
            <a:br/>
            <a:r>
              <a:t>取舍建议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2816" y="54864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P10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54864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看预算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36992" y="42062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2976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900"/>
                </a:solidFill>
              </a:defRPr>
            </a:pPr>
            <a:r>
              <a:t>高层领导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6177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BBBBBB"/>
                </a:solidFill>
              </a:defRPr>
            </a:pPr>
            <a:r>
              <a:t>项目高度/安全性</a:t>
            </a:r>
            <a:br/>
            <a:r>
              <a:t>是否值得选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4864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P10 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54864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看判断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-731520"/>
            <a:ext cx="7772400" cy="4371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04 / 10 · 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0">
                <a:solidFill>
                  <a:srgbClr val="FFFFFF"/>
                </a:solidFill>
              </a:defRPr>
            </a:pPr>
            <a:r>
              <a:t>ULTRA IN MOTION</a:t>
            </a:r>
            <a:br/>
            <a:r>
              <a:t>城市即赛道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 b="0">
                <a:solidFill>
                  <a:srgbClr val="BBBBBB"/>
                </a:solidFill>
              </a:defRPr>
            </a:pPr>
            <a:r>
              <a:t>让城市成为发布会的赛道，让性能成为可感知的路径，让生态成为 SU7 Ultra 的差异化终点。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05 / 10 · 策略总纲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STRATEGIC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D0D0D"/>
                </a:solidFill>
              </a:defRPr>
            </a:pPr>
            <a:r>
              <a:t>Performance × Ecosystem × 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0">
                <a:solidFill>
                  <a:srgbClr val="0D0D0D"/>
                </a:solidFill>
              </a:defRPr>
            </a:pPr>
            <a:r>
              <a:t>Performance Proof</a:t>
            </a:r>
            <a:br/>
            <a:r>
              <a:t>性能证明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舞台光轨+数据墙+风洞感声效</a:t>
            </a:r>
            <a:br/>
            <a:r>
              <a:t>用体感替代参数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201168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2121408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0">
                <a:solidFill>
                  <a:srgbClr val="0D0D0D"/>
                </a:solidFill>
              </a:defRPr>
            </a:pPr>
            <a:r>
              <a:t>Smart Ecosystem</a:t>
            </a:r>
            <a:br/>
            <a:r>
              <a:t>智能生态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32004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HyperOS三端联动+智能座舱</a:t>
            </a:r>
            <a:br/>
            <a:r>
              <a:t>人车家全场景演示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201168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2121408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0">
                <a:solidFill>
                  <a:srgbClr val="0D0D0D"/>
                </a:solidFill>
              </a:defRPr>
            </a:pPr>
            <a:r>
              <a:t>City Experience</a:t>
            </a:r>
            <a:br/>
            <a:r>
              <a:t>城市体验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32004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入口=城市起点,动线=赛道路径</a:t>
            </a:r>
            <a:br/>
            <a:r>
              <a:t>四段叙事=四维空间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06 / 10 · 主舞台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MAIN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t>主舞台 · THE TRACK OPENS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6900"/>
                </a:solidFill>
                <a:latin typeface="Menlo"/>
              </a:defRPr>
            </a:pPr>
            <a:r>
              <a:t>SU7 Ultra 旋转展台 · 环形LED光轨 · 数据墙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669280"/>
            <a:ext cx="12191695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SU7 Ultra Turntable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360°展示 · 橙色光轨启动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Curved LED Data 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实时性能数据可视化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Speed Light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环形LED速度线 · 四段叙事对应四色光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-cockp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07 / 10 · 智能座舱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SMART COCKPIT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FFFFFF"/>
                </a:solidFill>
              </a:defRPr>
            </a:pPr>
            <a:r>
              <a:t>Smart Cockpit Lounge · 人车家全生态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6900"/>
                </a:solidFill>
                <a:latin typeface="Menlo"/>
              </a:defRPr>
            </a:pPr>
            <a:r>
              <a:t>SU7 Ultra 真车座舱 · HyperOS 三端联动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669280"/>
            <a:ext cx="12191695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HyperOS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手机→车机→家居 实时联动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In-Car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真车座舱交互体验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Ecosystem 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人车家全场景可视化展示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t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08 / 10 · 城市入口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URBAN TRACK ENTRANCE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FFFFFF"/>
                </a:solidFill>
              </a:defRPr>
            </a:pPr>
            <a:r>
              <a:t>城市即赛道 · 沉浸式入口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6900"/>
                </a:solidFill>
                <a:latin typeface="Menlo"/>
              </a:defRPr>
            </a:pPr>
            <a:r>
              <a:t>城市夜景投射 · 橙色速度线引导入场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669280"/>
            <a:ext cx="12191695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City Night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城市赛道路线投射LED走廊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Speed Line Corridor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橙色速度线渐进引导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5897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Mission Card Pickup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6126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扫码领取赛道任务卡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09 / 10 · 风险与能力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RISK &amp;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D0D0D"/>
                </a:solidFill>
              </a:defRPr>
            </a:pPr>
            <a:r>
              <a:t>风险矩阵 × 能力证明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  <a:latin typeface="Menlo"/>
              </a:defRPr>
            </a:pPr>
            <a:r>
              <a:t>风险点  →  影响  →  预防  →  触发节点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0D0D"/>
                </a:solidFill>
              </a:defRPr>
            </a:pPr>
            <a:r>
              <a:t>搭建风险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3172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城市赛道≠赛车场安全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3172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</a:defRPr>
            </a:pPr>
            <a:r>
              <a:t>结构工程师驻场+预搭建测试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317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D-14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0D0D"/>
                </a:solidFill>
              </a:defRPr>
            </a:pPr>
            <a:r>
              <a:t>AVL风险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3464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户外LED/音响环境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3464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</a:defRPr>
            </a:pPr>
            <a:r>
              <a:t>冗余设备+备用电源方案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8346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D-7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0D0D"/>
                </a:solidFill>
              </a:defRPr>
            </a:pPr>
            <a:r>
              <a:t>人流风险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3756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入口→舞台→体验区交叉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3756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</a:defRPr>
            </a:pPr>
            <a:r>
              <a:t>单向动线+分区限流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3375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D-Day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659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  <a:latin typeface="Menlo"/>
              </a:defRPr>
            </a:pPr>
            <a:r>
              <a:t>能力证明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31720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✅ 小米汽车发布会案例 ×2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34640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✅ 大型户外活动执行 ×15+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337560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✅ AVL/舞美技术团队在编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840480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✅ 8周倒排+双城同步经验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304" y="0"/>
            <a:ext cx="54864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800" b="0">
                <a:solidFill>
                  <a:srgbClr val="FFFFFF"/>
                </a:solidFill>
              </a:defRPr>
            </a:pPr>
            <a:r>
              <a:t>ULTRA IN MOTION</a:t>
            </a:r>
            <a:br/>
            <a:r>
              <a:t>城市即赛道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让城市成为赛道，让性能成为体感，让生态成为终点。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Youngs Group · v26 Bid-Winning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4747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WHY CHOOSE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D0D0D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3898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D0D0D"/>
                </a:solidFill>
              </a:defRPr>
            </a:pPr>
            <a:r>
              <a:t>懂品牌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373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373"/>
                </a:solidFill>
              </a:defRPr>
            </a:pPr>
            <a:r>
              <a:t>小米科技基因+汽车方法论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468880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D0D0D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529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D0D0D"/>
                </a:solidFill>
              </a:defRPr>
            </a:pPr>
            <a:r>
              <a:t>能落地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00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373"/>
                </a:solidFill>
              </a:defRPr>
            </a:pPr>
            <a:r>
              <a:t>8周倒排·风险可控·团队在编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931920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976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6900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3159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6900"/>
                </a:solidFill>
              </a:defRPr>
            </a:pPr>
            <a:r>
              <a:t>可传播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6634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373"/>
                </a:solidFill>
              </a:defRPr>
            </a:pPr>
            <a:r>
              <a:t>城市赛道=社交货币·UGC裂变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394960"/>
            <a:ext cx="50292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