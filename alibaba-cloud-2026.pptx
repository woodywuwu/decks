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enlo"/>
              </a:defRPr>
            </a:pPr>
            <a:r>
              <a:t>ALIBABA CLOUD · 云计算洞察报告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65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2026.06 · 01 /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  <a:latin typeface="Menlo"/>
              </a:defRPr>
            </a:pPr>
            <a:r>
              <a:t>CLOUD INTELLIGENCE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400" b="0">
                <a:solidFill>
                  <a:srgbClr val="FFFFFF"/>
                </a:solidFill>
                <a:latin typeface="Arial"/>
              </a:defRPr>
            </a:pPr>
            <a:r>
              <a:t>阿里云2026</a:t>
            </a:r>
            <a:br/>
            <a:r>
              <a:t>重新定义云计算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029200"/>
            <a:ext cx="109728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FFFFFF"/>
                </a:solidFill>
              </a:defRPr>
            </a:pPr>
            <a:r>
              <a:t>从基础设施到智能基座——AI 原生云时代的竞争格局、技术趋势与战略机遇。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Menlo"/>
              </a:defRPr>
            </a:pPr>
            <a:r>
              <a:t>Youngs Group · 行业洞察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594360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FFFFF"/>
                </a:solidFill>
                <a:latin typeface="Menlo"/>
              </a:defRPr>
            </a:pPr>
            <a:r>
              <a:t>→  方向键翻页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enlo"/>
              </a:defRPr>
            </a:pPr>
            <a:r>
              <a:t>02 / 05 · 市场格局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65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MARKET LANDSCAPE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0A0A0A"/>
                </a:solidFill>
                <a:latin typeface="Arial"/>
              </a:defRPr>
            </a:pPr>
            <a:r>
              <a:t>中国云计算市场  三强格局已定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77440"/>
            <a:ext cx="3291840" cy="2560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29184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2FA7"/>
                </a:solidFill>
                <a:latin typeface="Arial"/>
              </a:defRPr>
            </a:pPr>
            <a:r>
              <a:t>36%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A0A0A"/>
                </a:solidFill>
                <a:latin typeface="Menlo"/>
              </a:defRPr>
            </a:pPr>
            <a:r>
              <a:t>阿里云 · 市场份额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2062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37373"/>
                </a:solidFill>
              </a:defRPr>
            </a:pPr>
            <a:r>
              <a:t>连续 5 年中国第一</a:t>
            </a:r>
            <a:br/>
            <a:r>
              <a:t>AI 公有云市占率超 40%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377440"/>
            <a:ext cx="3291840" cy="2560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6240" y="2377440"/>
            <a:ext cx="329184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80560" y="265176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2FA7"/>
                </a:solidFill>
                <a:latin typeface="Arial"/>
              </a:defRPr>
            </a:pPr>
            <a:r>
              <a:t>19%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A0A0A"/>
                </a:solidFill>
                <a:latin typeface="Menlo"/>
              </a:defRPr>
            </a:pPr>
            <a:r>
              <a:t>华为云 · 追赶者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2062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37373"/>
                </a:solidFill>
              </a:defRPr>
            </a:pPr>
            <a:r>
              <a:t>政务+制造双重优势</a:t>
            </a:r>
            <a:br/>
            <a:r>
              <a:t>昇腾生态加速渗透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2377440"/>
            <a:ext cx="3291840" cy="25603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63840" y="2377440"/>
            <a:ext cx="329184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0" y="265176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002FA7"/>
                </a:solidFill>
                <a:latin typeface="Arial"/>
              </a:defRPr>
            </a:pPr>
            <a:r>
              <a:t>16%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37490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A0A0A"/>
                </a:solidFill>
                <a:latin typeface="Menlo"/>
              </a:defRPr>
            </a:pPr>
            <a:r>
              <a:t>腾讯云 · 差异化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420624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37373"/>
                </a:solidFill>
              </a:defRPr>
            </a:pPr>
            <a:r>
              <a:t>游戏/音视频基本盘稳固</a:t>
            </a:r>
            <a:br/>
            <a:r>
              <a:t>混元大模型后来居上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120640"/>
            <a:ext cx="1097280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3949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A0A0A"/>
                </a:solidFill>
              </a:defRPr>
            </a:pPr>
            <a:r>
              <a:t>📊  2026 年中国公有云市场规模突破 6800 亿元，AI 驱动增长贡献超 55%。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3949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0A0A0A"/>
                </a:solidFill>
              </a:defRPr>
            </a:pPr>
            <a:r>
              <a:t>🏭  非互联网行业占比首超 50%，制造业、金融、能源成为增长新引擎。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03 / 05 · 技术趋势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65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TECH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FAFAF8"/>
                </a:solidFill>
                <a:latin typeface="Arial"/>
              </a:defRPr>
            </a:pPr>
            <a:r>
              <a:t>四大核心技术重塑云竞争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7373"/>
                </a:solidFill>
              </a:defRPr>
            </a:pPr>
            <a:r>
              <a:t>2026 年，云计算从资源交付转向智能服务，以下四个方向定义新一轮竞争格局。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5303520" cy="14173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889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7B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346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AFAF8"/>
                </a:solidFill>
                <a:latin typeface="Arial"/>
              </a:defRPr>
            </a:pPr>
            <a:r>
              <a:t>AI 原生云架构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9184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AA"/>
                </a:solidFill>
              </a:defRPr>
            </a:pPr>
            <a:r>
              <a:t>通义千问千亿参数模型 + 灵骏超级计算集群，训练成本下降 62%，百川、智谱等头部玩家首选底座。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651760"/>
            <a:ext cx="5303520" cy="14173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78892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7B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83464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AFAF8"/>
                </a:solidFill>
                <a:latin typeface="Arial"/>
              </a:defRPr>
            </a:pPr>
            <a:r>
              <a:t>Serverless 全面普及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29184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AA"/>
                </a:solidFill>
              </a:defRPr>
            </a:pPr>
            <a:r>
              <a:t>函数计算 + 容器实例，让开发者告别服务器运维。阿里云 SAE 用户年增 320%，中小企业占比超 60%。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5303520" cy="14173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7B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720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AFAF8"/>
                </a:solidFill>
                <a:latin typeface="Arial"/>
              </a:defRPr>
            </a:pPr>
            <a:r>
              <a:t>混合多云统一管理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02920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AA"/>
                </a:solidFill>
              </a:defRPr>
            </a:pPr>
            <a:r>
              <a:t>ACK One 分布式云容器平台，一网统管异构基础设施，银行核心系统上云加速 3 倍。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5303520" cy="1417320"/>
          </a:xfrm>
          <a:prstGeom prst="rect">
            <a:avLst/>
          </a:prstGeom>
          <a:noFill/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52628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5B7B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4572000"/>
            <a:ext cx="40233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AFAF8"/>
                </a:solidFill>
                <a:latin typeface="Arial"/>
              </a:defRPr>
            </a:pPr>
            <a:r>
              <a:t>Data + AI 飞轮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5029200"/>
            <a:ext cx="402336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AAAAAA"/>
                </a:solidFill>
              </a:defRPr>
            </a:pPr>
            <a:r>
              <a:t>MaxCompute + PAI 一体化数据智能平台，从数据湖到模型训练全链路打通，客户留存率 92%。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  <a:latin typeface="Menlo"/>
              </a:defRPr>
            </a:pPr>
            <a:r>
              <a:t>04 / 05 · 战略机遇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365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STRATEGIC OPPORTUNITIES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48640" cy="381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200" b="0">
                <a:solidFill>
                  <a:srgbClr val="0A0A0A"/>
                </a:solidFill>
                <a:latin typeface="Arial"/>
              </a:defRPr>
            </a:pPr>
            <a:r>
              <a:t>阿里云的三个增量战场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37373"/>
                </a:solidFill>
              </a:defRPr>
            </a:pPr>
            <a:r>
              <a:t>存量竞争之外，真正的增长来自这三个增量空间。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3383280" cy="2560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432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474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出海企业云底座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97764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CCCFF"/>
                </a:solidFill>
              </a:defRPr>
            </a:pPr>
            <a:r>
              <a:t>全球 30+ 地域 89 个可用区</a:t>
            </a:r>
            <a:br/>
            <a:r>
              <a:t>服务 400 万海外企业</a:t>
            </a:r>
            <a:br/>
            <a:r>
              <a:t>跨境电商、游戏出海首选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2560320"/>
            <a:ext cx="3383280" cy="2560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7432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74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政企数字化深水区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97764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CCCFF"/>
                </a:solidFill>
              </a:defRPr>
            </a:pPr>
            <a:r>
              <a:t>飞天操作系统已落地</a:t>
            </a:r>
            <a:br/>
            <a:r>
              <a:t>15 个省级政务云</a:t>
            </a:r>
            <a:br/>
            <a:r>
              <a:t>金融云覆盖 60% 头部银行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560320"/>
            <a:ext cx="3383280" cy="256032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7432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3474720"/>
            <a:ext cx="283464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t>AI 应用生态繁荣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977640"/>
            <a:ext cx="2834640" cy="10058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CCCCFF"/>
                </a:solidFill>
              </a:defRPr>
            </a:pPr>
            <a:r>
              <a:t>魔搭社区聚集 800 万开发者</a:t>
            </a:r>
            <a:br/>
            <a:r>
              <a:t>开源模型 5000+</a:t>
            </a:r>
            <a:br/>
            <a:r>
              <a:t>百炼平台企业分钟级部署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394960"/>
            <a:ext cx="10972800" cy="1270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2743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FA7"/>
                </a:solidFill>
                <a:latin typeface="Arial"/>
              </a:defRPr>
            </a:pPr>
            <a:r>
              <a:t>¥6800亿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8064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0A0A0A"/>
                </a:solidFill>
              </a:defRPr>
            </a:pPr>
            <a:r>
              <a:t>中国公有云 2026 年市场总规模，阿里云以 36% 稳居第一。AI 公有云市场增速达 68%，远超行业均值。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68580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FFFFFF"/>
                </a:solidFill>
                <a:latin typeface="Menlo"/>
              </a:defRPr>
            </a:pPr>
            <a:r>
              <a:t>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3360" y="36576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FFFFFF"/>
                </a:solidFill>
                <a:latin typeface="Menlo"/>
              </a:defRPr>
            </a:pPr>
            <a: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FFFF"/>
                </a:solidFill>
                <a:latin typeface="Menlo"/>
              </a:defRPr>
            </a:pPr>
            <a: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4800" b="0">
                <a:solidFill>
                  <a:srgbClr val="FFFFFF"/>
                </a:solidFill>
                <a:latin typeface="Arial"/>
              </a:defRPr>
            </a:pPr>
            <a:r>
              <a:t>云不是终点，</a:t>
            </a:r>
            <a:br/>
            <a:r>
              <a:t>智能才是。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89120"/>
            <a:ext cx="5029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阿里云正从 IaaS 基础设施提供商转型为 AI 时代的智能计算基座。</a:t>
            </a:r>
            <a:br/>
            <a:r>
              <a:t>决胜的关键不在规模，在生态与开发者心智。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669280"/>
            <a:ext cx="5029200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DDDDFF"/>
                </a:solidFill>
                <a:latin typeface="Menlo"/>
              </a:defRPr>
            </a:pPr>
            <a:r>
              <a:t>Youngs Group · 行业洞察系列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94360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DDDDFF"/>
                </a:solidFill>
                <a:latin typeface="Menlo"/>
              </a:defRPr>
            </a:pPr>
            <a:r>
              <a:t>2026.06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304" y="0"/>
            <a:ext cx="6096304" cy="6858000"/>
          </a:xfrm>
          <a:prstGeom prst="rect">
            <a:avLst/>
          </a:prstGeom>
          <a:solidFill>
            <a:srgbClr val="FAFA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657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737373"/>
                </a:solidFill>
                <a:latin typeface="Menlo"/>
              </a:defRPr>
            </a:pPr>
            <a:r>
              <a:t>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365760"/>
            <a:ext cx="22860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03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155448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0A0A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16002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A0A0A"/>
                </a:solidFill>
                <a:latin typeface="Arial"/>
              </a:defRPr>
            </a:pPr>
            <a:r>
              <a:t>AI 原生是下一战场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0" y="205740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37373"/>
                </a:solidFill>
              </a:defRPr>
            </a:pPr>
            <a:r>
              <a:t>云服务商的核心竞争力不再是算力规模，而是模型能力 + 开发者生态的乘积。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75120" y="2971800"/>
            <a:ext cx="5029200" cy="63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0" y="32004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A0A0A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24612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A0A0A"/>
                </a:solidFill>
                <a:latin typeface="Arial"/>
              </a:defRPr>
            </a:pPr>
            <a:r>
              <a:t>政企与出海双轮驱动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370332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37373"/>
                </a:solidFill>
              </a:defRPr>
            </a:pPr>
            <a:r>
              <a:t>国内靠政企数字化深水区，海外靠跨境电商与游戏出海，两条增长曲线并行。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617720"/>
            <a:ext cx="5029200" cy="6350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2FA7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89204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2FA7"/>
                </a:solidFill>
                <a:latin typeface="Arial"/>
              </a:defRPr>
            </a:pPr>
            <a:r>
              <a:t>生态决定护城河深度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5349240"/>
            <a:ext cx="4114800" cy="5943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737373"/>
                </a:solidFill>
              </a:defRPr>
            </a:pPr>
            <a:r>
              <a:t>魔搭社区 800 万开发者 × 5000+ 开源模型 = 不可复制的生态壁垒。Winner takes more.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75120" y="6263640"/>
            <a:ext cx="5029200" cy="2540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640080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37373"/>
                </a:solidFill>
                <a:latin typeface="Menlo"/>
              </a:defRPr>
            </a:pPr>
            <a:r>
              <a:t>→  END · 阿里云 2026 洞察报告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