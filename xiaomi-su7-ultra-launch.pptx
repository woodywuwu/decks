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14400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0" y="0"/>
            <a:ext cx="54864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XIAOMI · SU7 ULTRA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01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  <a:latin typeface="Menlo"/>
              </a:defRPr>
            </a:pPr>
            <a:r>
              <a:t>STAGE 1 · STRATEGY &amp; CREATIVE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400" b="0">
                <a:solidFill>
                  <a:srgbClr val="FFFFFF"/>
                </a:solidFill>
              </a:defRPr>
            </a:pPr>
            <a:r>
              <a:t>ULTRA IN MOTION</a:t>
            </a:r>
            <a:br/>
            <a:r>
              <a:t>城市即赛道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32004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BBBBB"/>
                </a:solidFill>
              </a:defRPr>
            </a:pPr>
            <a:r>
              <a:t>把城市变成赛道，把性能变成路径，把生态变成终点。</a:t>
            </a:r>
            <a:br/>
            <a:r>
              <a:t>Xiaomi SU7 Ultra · 高性能智能出行发布会方案。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Creative Proposal ·  v23 Stage 1  |  Youngs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35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953D"/>
                </a:solidFill>
                <a:latin typeface="Menlo"/>
              </a:defRPr>
            </a:pPr>
            <a:r>
              <a:t>2026.06 · 含 AI 效果图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02 / 15 · 主题宣言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OPENING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914400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FFFFFF"/>
                </a:solidFill>
              </a:defRPr>
            </a:pPr>
            <a:r>
              <a:t>ULTRA 不只是性能上限，</a:t>
            </a:r>
            <a:br/>
            <a:r>
              <a:t>而是一种城市中的速度系统。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 b="0">
                <a:solidFill>
                  <a:srgbClr val="BBBBBB"/>
                </a:solidFill>
              </a:defRPr>
            </a:pPr>
            <a:r>
              <a:t>它不是只在赛道上存在的高性能，而是可以进入城市、进入家庭、</a:t>
            </a:r>
            <a:br/>
            <a:r>
              <a:t>进入日常智能生活的性能系统。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03520"/>
            <a:ext cx="73152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900"/>
                </a:solidFill>
              </a:defRPr>
            </a:pPr>
            <a:r>
              <a:t>◈  高性能证明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669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900"/>
                </a:solidFill>
              </a:defRPr>
            </a:pPr>
            <a:r>
              <a:t>◈  智能生态证明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669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900"/>
                </a:solidFill>
              </a:defRPr>
            </a:pPr>
            <a:r>
              <a:t>◈  品牌向上证明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5669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900"/>
                </a:solidFill>
              </a:defRPr>
            </a:pPr>
            <a:r>
              <a:t>◈  用户身份证明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03 / 15 · 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0D0D0D"/>
                </a:solidFill>
              </a:defRPr>
            </a:pPr>
            <a:r>
              <a:t>15页提案结构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0D0D"/>
                </a:solidFill>
              </a:defRPr>
            </a:pPr>
            <a:r>
              <a:t>策略研究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项目目标</a:t>
            </a:r>
            <a:br/>
            <a:r>
              <a:t>破题方向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210312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2402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06-08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224028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0D0D"/>
                </a:solidFill>
              </a:defRPr>
            </a:pPr>
            <a:r>
              <a:t>用户与机会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606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用户洞察 · 核心机会</a:t>
            </a:r>
            <a:br/>
            <a:r>
              <a:t>策略总纲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210312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22402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09-11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24028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0D0D"/>
                </a:solidFill>
              </a:defRPr>
            </a:pPr>
            <a:r>
              <a:t>创意系统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606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Big Idea · 叙事</a:t>
            </a:r>
            <a:br/>
            <a:r>
              <a:t>· 视觉母题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12-13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3484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0D0D"/>
                </a:solidFill>
              </a:defRPr>
            </a:pPr>
            <a:r>
              <a:t>设计总念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动线设计</a:t>
            </a:r>
            <a:br/>
            <a:r>
              <a:t>主舞台/主空间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2816" y="4297680"/>
            <a:ext cx="34747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4434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14-15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443484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0D0D"/>
                </a:solidFill>
              </a:defRPr>
            </a:pPr>
            <a:r>
              <a:t>体验与总结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48006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737373"/>
                </a:solidFill>
              </a:defRPr>
            </a:pPr>
            <a:r>
              <a:t>重点体验分区</a:t>
            </a:r>
            <a:br/>
            <a:r>
              <a:t>项目总结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04 / 15 · 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</a:defRPr>
            </a:pPr>
            <a:r>
              <a:t>本次发布会承担四个目标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900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建立 SU7 Ultra</a:t>
            </a:r>
            <a:br/>
            <a:r>
              <a:t>高性能旗舰心智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把性能从参数升级为品牌认知，</a:t>
            </a:r>
            <a:br/>
            <a:r>
              <a:t>让 Ultra 成为小米汽车的技术天花板符号。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9456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331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900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3317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将性能参数转译为</a:t>
            </a:r>
            <a:br/>
            <a:r>
              <a:t>可感知的现场体验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0175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光轨 / 数据墙 / 风洞感 / 声效——</a:t>
            </a:r>
            <a:br/>
            <a:r>
              <a:t>让「快」变成客人能看到和感受的东西。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900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434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强化「人车家全生态」</a:t>
            </a:r>
            <a:br/>
            <a:r>
              <a:t>差异化优势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292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HyperOS × 小米手机 × 智能家居</a:t>
            </a:r>
            <a:br/>
            <a:r>
              <a:t>三端联动，构建不可复制的体验壁垒。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20624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3434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900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3434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形成可传播的内容资产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0292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每个节点输出短视频 / 照片 / 媒体画面，</a:t>
            </a:r>
            <a:br/>
            <a:r>
              <a:t>社群二次创作 + 社媒裂变传播。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05 / 15 · 破题方向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STRATEGIC BREAKTHROUGH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6900"/>
                </a:solidFill>
                <a:latin typeface="Menlo"/>
              </a:defRPr>
            </a:pPr>
            <a:r>
              <a:t>THE CITY BECOMES THE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D0D0D"/>
                </a:solidFill>
              </a:defRPr>
            </a:pPr>
            <a:r>
              <a:t>城市即赛道 · 四段空间叙事</a:t>
            </a:r>
          </a:p>
        </p:txBody>
      </p:sp>
      <p:pic>
        <p:nvPicPr>
          <p:cNvPr id="8" name="Picture 7" descr="02-urban-t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68880"/>
            <a:ext cx="5303520" cy="2377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246888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37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|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87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入口 · 起点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6148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入口门廊 / 城市夜景投射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37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|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主舞台 · 加速区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0156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光轨启动 / SU7 Ultra 揭幕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40"/>
            <a:ext cx="137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|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体验区 · 证明区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4164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Performance Lab / 数据可视化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37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|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074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座舱区 · 连接区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817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人车家全生态 / 智能生活体验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37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|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4748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传播区 · 终点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218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媒体中心 / UGC 内容即时输出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06 / 15 · 用户洞察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AUDIENCE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目标用户想知道的四件事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03520" cy="1737360"/>
          </a:xfrm>
          <a:prstGeom prst="rect">
            <a:avLst/>
          </a:prstGeom>
          <a:noFill/>
          <a:ln w="12700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800" b="0">
                <a:solidFill>
                  <a:srgbClr val="FFFFFF"/>
                </a:solidFill>
              </a:defRPr>
            </a:pPr>
            <a:r>
              <a:t>我为什么相信它快？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 b="1">
                <a:solidFill>
                  <a:srgbClr val="FF6900"/>
                </a:solidFill>
              </a:defRPr>
            </a:pPr>
            <a:r>
              <a:t>→ 可理解的性能证明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303520" cy="1737360"/>
          </a:xfrm>
          <a:prstGeom prst="rect">
            <a:avLst/>
          </a:prstGeom>
          <a:noFill/>
          <a:ln w="12700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800" b="0">
                <a:solidFill>
                  <a:srgbClr val="FFFFFF"/>
                </a:solidFill>
              </a:defRPr>
            </a:pPr>
            <a:r>
              <a:t>我为什么愿意为 Ultra 买单？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089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 b="1">
                <a:solidFill>
                  <a:srgbClr val="FF6900"/>
                </a:solidFill>
              </a:defRPr>
            </a:pPr>
            <a:r>
              <a:t>→ 可拍摄的现场高光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5303520" cy="1737360"/>
          </a:xfrm>
          <a:prstGeom prst="rect">
            <a:avLst/>
          </a:prstGeom>
          <a:noFill/>
          <a:ln w="12700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800" b="0">
                <a:solidFill>
                  <a:srgbClr val="FFFFFF"/>
                </a:solidFill>
              </a:defRPr>
            </a:pPr>
            <a:r>
              <a:t>我如何在社交内容里表达我选择它？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 b="1">
                <a:solidFill>
                  <a:srgbClr val="FF6900"/>
                </a:solidFill>
              </a:defRPr>
            </a:pPr>
            <a:r>
              <a:t>→ 可分享的身份标签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114800"/>
            <a:ext cx="5303520" cy="1737360"/>
          </a:xfrm>
          <a:prstGeom prst="rect">
            <a:avLst/>
          </a:prstGeom>
          <a:noFill/>
          <a:ln w="12700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891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800" b="0">
                <a:solidFill>
                  <a:srgbClr val="FFFFFF"/>
                </a:solidFill>
              </a:defRPr>
            </a:pPr>
            <a:r>
              <a:t>它是否代表一种更前沿的科技生活身份？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1206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 b="1">
                <a:solidFill>
                  <a:srgbClr val="FF6900"/>
                </a:solidFill>
              </a:defRPr>
            </a:pPr>
            <a:r>
              <a:t>→ 可感知的生态连接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07 / 15 · 核心机会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KEY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D0D0D"/>
                </a:solidFill>
              </a:defRPr>
            </a:pPr>
            <a:r>
              <a:t>从「性能发布」升级为「高性能智能生活发布」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377440"/>
            <a:ext cx="82296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传统性能车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 b="0">
                <a:solidFill>
                  <a:srgbClr val="737373"/>
                </a:solidFill>
              </a:defRPr>
            </a:pPr>
            <a:r>
              <a:t>强调赛道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900"/>
                </a:solidFill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800" b="1">
                <a:solidFill>
                  <a:srgbClr val="0D0D0D"/>
                </a:solidFill>
              </a:defRPr>
            </a:pPr>
            <a:r>
              <a:t>城市即赛道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智能电动车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 b="0">
                <a:solidFill>
                  <a:srgbClr val="737373"/>
                </a:solidFill>
              </a:defRPr>
            </a:pPr>
            <a:r>
              <a:t>强调科技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900"/>
                </a:solidFill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49039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800" b="1">
                <a:solidFill>
                  <a:srgbClr val="0D0D0D"/>
                </a:solidFill>
              </a:defRPr>
            </a:pPr>
            <a:r>
              <a:t>生活即生态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51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小米 SU7 Ultra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175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 b="0">
                <a:solidFill>
                  <a:srgbClr val="737373"/>
                </a:solidFill>
              </a:defRPr>
            </a:pPr>
            <a:r>
              <a:t>更快，更贵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900"/>
                </a:solidFill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49039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800" b="1">
                <a:solidFill>
                  <a:srgbClr val="FF6900"/>
                </a:solidFill>
              </a:defRPr>
            </a:pPr>
            <a:r>
              <a:t>Ultra让城市里的智能生活</a:t>
            </a:r>
            <a:br/>
            <a:r>
              <a:t>拥有了赛道级性能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09728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200" b="0">
                <a:solidFill>
                  <a:srgbClr val="0D0D0D"/>
                </a:solidFill>
              </a:defRPr>
            </a:pPr>
            <a:r>
              <a:t>机会点：传统性能车讲赛道，智能电动车讲科技。小米可以把两者结合——城市即赛道，生活即生态。</a:t>
            </a:r>
            <a:br/>
            <a:r>
              <a:t>SU7 Ultra 发布会不只讲「快」，而是讲「Ultra 让城市里的智能生活拥有了赛道级性能。」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08 / 15 · 策略总纲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STRATEGIC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Performance Proof × Smart Ecosystem × City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一场从城市出发的高性能智能出行发布会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0">
                <a:solidFill>
                  <a:srgbClr val="FFFFFF"/>
                </a:solidFill>
              </a:defRPr>
            </a:pPr>
            <a:r>
              <a:t>Performance Proof</a:t>
            </a:r>
            <a:br/>
            <a:r>
              <a:t>性能证明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BBBBBB"/>
                </a:solidFill>
              </a:defRPr>
            </a:pPr>
            <a:r>
              <a:t>用舞台、数据、声光和体验</a:t>
            </a:r>
            <a:br/>
            <a:r>
              <a:t>证明 Ultra 性能</a:t>
            </a:r>
            <a:br/>
            <a:br/>
            <a:r>
              <a:t>◈ 舞台光轨启动</a:t>
            </a:r>
            <a:br/>
            <a:r>
              <a:t>◈ 实时数据墙</a:t>
            </a:r>
            <a:br/>
            <a:r>
              <a:t>◈ 风洞感声效设计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2377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5603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0">
                <a:solidFill>
                  <a:srgbClr val="FFFFFF"/>
                </a:solidFill>
              </a:defRPr>
            </a:pPr>
            <a:r>
              <a:t>Smart Ecosystem</a:t>
            </a:r>
            <a:br/>
            <a:r>
              <a:t>智能生态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374904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BBBBBB"/>
                </a:solidFill>
              </a:defRPr>
            </a:pPr>
            <a:r>
              <a:t>用人车家连接体现</a:t>
            </a:r>
            <a:br/>
            <a:r>
              <a:t>小米差异化</a:t>
            </a:r>
            <a:br/>
            <a:br/>
            <a:r>
              <a:t>◈ HyperOS 三端联动</a:t>
            </a:r>
            <a:br/>
            <a:r>
              <a:t>◈ 智能座舱体验区</a:t>
            </a:r>
            <a:br/>
            <a:r>
              <a:t>◈ 手机控制全场景演示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2377440"/>
            <a:ext cx="34747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25603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0">
                <a:solidFill>
                  <a:srgbClr val="FFFFFF"/>
                </a:solidFill>
              </a:defRPr>
            </a:pPr>
            <a:r>
              <a:t>City Experience</a:t>
            </a:r>
            <a:br/>
            <a:r>
              <a:t>城市体验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74904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BBBBBB"/>
                </a:solidFill>
              </a:defRPr>
            </a:pPr>
            <a:r>
              <a:t>用城市赛道叙事</a:t>
            </a:r>
            <a:br/>
            <a:r>
              <a:t>连接现场、用户和传播</a:t>
            </a:r>
            <a:br/>
            <a:br/>
            <a:r>
              <a:t>◈ 入口=城市起点</a:t>
            </a:r>
            <a:br/>
            <a:r>
              <a:t>◈ 动线=赛道路径</a:t>
            </a:r>
            <a:br/>
            <a:r>
              <a:t>◈ 传播=城市社交货币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-731520"/>
            <a:ext cx="6858000" cy="3857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09 / 15 · 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05840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400" b="0">
                <a:solidFill>
                  <a:srgbClr val="FFFFFF"/>
                </a:solidFill>
              </a:defRPr>
            </a:pPr>
            <a:r>
              <a:t>ULTRA IN MOTION</a:t>
            </a:r>
            <a:br/>
            <a:r>
              <a:t>城市即赛道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 b="0">
                <a:solidFill>
                  <a:srgbClr val="BBBBBB"/>
                </a:solidFill>
              </a:defRPr>
            </a:pPr>
            <a:r>
              <a:t>让城市成为发布会的赛道，让性能成为可感知的路径，让生态成为 Ultra 的差异化终点。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10 / 15 · 创意叙事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CREATIVE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D0D0D"/>
                </a:solidFill>
              </a:defRPr>
            </a:pPr>
            <a:r>
              <a:t>四段式叙事 × 四维空间对应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035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900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2140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0D0D0D"/>
                </a:solidFill>
              </a:defRPr>
            </a:pPr>
            <a:r>
              <a:t>The City Starts</a:t>
            </a:r>
            <a:br/>
            <a:r>
              <a:t>城市启动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737373"/>
                </a:solidFill>
              </a:defRPr>
            </a:pPr>
            <a:r>
              <a:t>入口门廊 · 城市夜景</a:t>
            </a:r>
            <a:br/>
            <a:r>
              <a:t>来宾抵达 · 城市赛道起点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FF6900"/>
                </a:solidFill>
              </a:defRPr>
            </a:pPr>
            <a:r>
              <a:t>入口门廊 / 城市夜景投射</a:t>
            </a:r>
            <a:br/>
            <a:r>
              <a:t>橙色速度线引导入场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53035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121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900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2140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0D0D0D"/>
                </a:solidFill>
              </a:defRPr>
            </a:pPr>
            <a:r>
              <a:t>The Track Opens</a:t>
            </a:r>
            <a:br/>
            <a:r>
              <a:t>赛道开启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432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737373"/>
                </a:solidFill>
              </a:defRPr>
            </a:pPr>
            <a:r>
              <a:t>主舞台 · 光轨启动</a:t>
            </a:r>
            <a:br/>
            <a:r>
              <a:t>SU7 Ultra 震撼揭幕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7432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FF6900"/>
                </a:solidFill>
              </a:defRPr>
            </a:pPr>
            <a:r>
              <a:t>主舞台中央旋转展台</a:t>
            </a:r>
            <a:br/>
            <a:r>
              <a:t>环绕LED光轨爆发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53035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159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900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159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0D0D0D"/>
                </a:solidFill>
              </a:defRPr>
            </a:pPr>
            <a:r>
              <a:t>The Ultra Proves</a:t>
            </a:r>
            <a:br/>
            <a:r>
              <a:t>性能证明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737373"/>
                </a:solidFill>
              </a:defRPr>
            </a:pPr>
            <a:r>
              <a:t>Performance Lab · 数据墙</a:t>
            </a:r>
            <a:br/>
            <a:r>
              <a:t>性能参数实时可视化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937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FF6900"/>
                </a:solidFill>
              </a:defRPr>
            </a:pPr>
            <a:r>
              <a:t>风洞感装置 × 触摸屏</a:t>
            </a:r>
            <a:br/>
            <a:r>
              <a:t>实时速度/扭矩/续航数据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206240"/>
            <a:ext cx="530352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3159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900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3159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0D0D0D"/>
                </a:solidFill>
              </a:defRPr>
            </a:pPr>
            <a:r>
              <a:t>The Ecosystem Connects</a:t>
            </a:r>
            <a:br/>
            <a:r>
              <a:t>生态连接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937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737373"/>
                </a:solidFill>
              </a:defRPr>
            </a:pPr>
            <a:r>
              <a:t>Smart Cockpit Lounge</a:t>
            </a:r>
            <a:br/>
            <a:r>
              <a:t>人车家全生态体验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937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FF6900"/>
                </a:solidFill>
              </a:defRPr>
            </a:pPr>
            <a:r>
              <a:t>SU7 Ultra 真车座舱</a:t>
            </a:r>
            <a:br/>
            <a:r>
              <a:t>HyperOS 三端联动演示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11 / 15 · 视觉母题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VISUAL MOTIF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D0D0D"/>
                </a:solidFill>
              </a:defRPr>
            </a:pPr>
            <a:r>
              <a:t>ORANGE VELOCITY LINE · 橙色速度线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900"/>
                </a:solidFill>
                <a:latin typeface="Menlo"/>
              </a:defRPr>
            </a:pPr>
            <a:r>
              <a:t>橙色速度线作为整场视觉母题，贯穿全链路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2011680" cy="14630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Xiaomi Orange · 速度线 · 主色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103120"/>
            <a:ext cx="2011680" cy="14630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7490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776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Graphite Black · 背景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2011680" cy="146304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Electric Silver · 辅助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103120"/>
            <a:ext cx="2011680" cy="146304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37490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WHITE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977639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Track White · 内容底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37373"/>
                </a:solidFill>
              </a:defRPr>
            </a:pPr>
            <a:r>
              <a:t>——  视觉语言: Graphite Black · Xiaomi Orange · Electric Silver · Track Line · Data Grid · Motion Blur  ——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0D0D"/>
                </a:solidFill>
              </a:defRPr>
            </a:pPr>
            <a:r>
              <a:t>◈  橙色速度线贯穿八大应用: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入口门廊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舞台光轨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目录编号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动线路径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体验标识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传播转场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伴手礼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6235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900"/>
                </a:solidFill>
                <a:latin typeface="Menlo"/>
              </a:defRPr>
            </a:pPr>
            <a:r>
              <a:t>内容资产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12 / 15 · 设计总概念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DESIGN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设计原则：科技产品发布会，不是传统车展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0352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900"/>
                </a:solidFill>
              </a:defRPr>
            </a:pPr>
            <a:r>
              <a:t>01  速度可视化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BBBBBB"/>
                </a:solidFill>
              </a:defRPr>
            </a:pPr>
            <a:r>
              <a:t>用光轨、数据墙、风洞感和声效</a:t>
            </a:r>
            <a:br/>
            <a:r>
              <a:t>表达性能，不依赖参数文字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530352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0312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900"/>
                </a:solidFill>
              </a:defRPr>
            </a:pPr>
            <a:r>
              <a:t>02  生态可体验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BBBBBB"/>
                </a:solidFill>
              </a:defRPr>
            </a:pPr>
            <a:r>
              <a:t>SU7 Ultra 真车座舱 + HyperOS</a:t>
            </a:r>
            <a:br/>
            <a:r>
              <a:t>三端联动，触碰即理解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530352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900"/>
                </a:solidFill>
              </a:defRPr>
            </a:pPr>
            <a:r>
              <a:t>03  城市即舞台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BBBBBB"/>
                </a:solidFill>
              </a:defRPr>
            </a:pPr>
            <a:r>
              <a:t>入口=城市起点，动线=赛道路径</a:t>
            </a:r>
            <a:br/>
            <a:r>
              <a:t>四段空间=四段叙事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114800"/>
            <a:ext cx="530352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114800"/>
            <a:ext cx="530352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900"/>
                </a:solidFill>
              </a:defRPr>
            </a:pPr>
            <a:r>
              <a:t>04  内容即传播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377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BBBBBB"/>
                </a:solidFill>
              </a:defRPr>
            </a:pPr>
            <a:r>
              <a:t>每个节点输出短视频/照片/媒体画面</a:t>
            </a:r>
            <a:br/>
            <a:r>
              <a:t>社群二次创作 + 社媒裂变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13 / 15 · 用户动线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VISITOR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D0D0D"/>
                </a:solidFill>
              </a:defRPr>
            </a:pPr>
            <a:r>
              <a:t>四段城市赛道 · 120分钟体验动线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03520" cy="182880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1828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0D0D"/>
                </a:solidFill>
              </a:defRPr>
            </a:pPr>
            <a:r>
              <a:t>START · 城市启动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737373"/>
                </a:solidFill>
              </a:defRPr>
            </a:pPr>
            <a:r>
              <a:t>入口门廊 · 城市夜景</a:t>
            </a:r>
            <a:br/>
            <a:r>
              <a:t>橙色速度线引导入场 · 打卡拍照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5303520" cy="182880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03120"/>
            <a:ext cx="54864" cy="1828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0D0D"/>
                </a:solidFill>
              </a:defRPr>
            </a:pPr>
            <a:r>
              <a:t>TRACK · 赛道开启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737373"/>
                </a:solidFill>
              </a:defRPr>
            </a:pPr>
            <a:r>
              <a:t>主舞台 · SU7 Ultra 揭幕</a:t>
            </a:r>
            <a:br/>
            <a:r>
              <a:t>光轨灯光秀 · 性能演讲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303520" cy="182880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54864" cy="1828800"/>
          </a:xfrm>
          <a:prstGeom prst="rect">
            <a:avLst/>
          </a:prstGeom>
          <a:solidFill>
            <a:srgbClr val="FF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0D0D"/>
                </a:solidFill>
              </a:defRPr>
            </a:pPr>
            <a:r>
              <a:t>PROVE · 性能证明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737373"/>
                </a:solidFill>
              </a:defRPr>
            </a:pPr>
            <a:r>
              <a:t>Performance Lab · 数据墙</a:t>
            </a:r>
            <a:br/>
            <a:r>
              <a:t>风洞感装置 · 互动体验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206240"/>
            <a:ext cx="5303520" cy="1828800"/>
          </a:xfrm>
          <a:prstGeom prst="rect">
            <a:avLst/>
          </a:prstGeom>
          <a:solidFill>
            <a:srgbClr val="ED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206240"/>
            <a:ext cx="54864" cy="1828800"/>
          </a:xfrm>
          <a:prstGeom prst="rect">
            <a:avLst/>
          </a:prstGeom>
          <a:solidFill>
            <a:srgbClr val="FF9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0D0D"/>
                </a:solidFill>
              </a:defRPr>
            </a:pPr>
            <a:r>
              <a:t>CONNECT · 生态连接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737373"/>
                </a:solidFill>
              </a:defRPr>
            </a:pPr>
            <a:r>
              <a:t>Smart Cockpit Lounge</a:t>
            </a:r>
            <a:br/>
            <a:r>
              <a:t>人车家全生态演示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14 / 15 · 主舞台与体验区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MAIN STAGE &amp;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48640" cy="381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主舞台 &amp; 体验分区效果图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 Seedream 4.5 · 2560×1440</a:t>
            </a:r>
          </a:p>
        </p:txBody>
      </p:sp>
      <p:pic>
        <p:nvPicPr>
          <p:cNvPr id="8" name="Picture 7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39496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3639312"/>
            <a:ext cx="5394960" cy="566928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主舞台 · Track Opens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512064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 b="0">
                <a:solidFill>
                  <a:srgbClr val="BBBBBB"/>
                </a:solidFill>
              </a:defRPr>
            </a:pPr>
            <a:r>
              <a:t>SU7 Ultra 旋转展台</a:t>
            </a:r>
            <a:br/>
            <a:r>
              <a:t>环形 LED 光轨 · 数据墙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39496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cockp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394960" cy="21945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0" y="3639312"/>
            <a:ext cx="5394960" cy="566928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703320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900"/>
                </a:solidFill>
              </a:defRPr>
            </a:pPr>
            <a:r>
              <a:t>智能座舱 ·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931920"/>
            <a:ext cx="512064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 b="0">
                <a:solidFill>
                  <a:srgbClr val="BBBBBB"/>
                </a:solidFill>
              </a:defRPr>
            </a:pPr>
            <a:r>
              <a:t>HyperOS 三端联动演示</a:t>
            </a:r>
            <a:br/>
            <a:r>
              <a:t>人车家全生态体验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539496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4-performance-la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0"/>
            <a:ext cx="5394960" cy="1691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5394960" cy="502920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24728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900"/>
                </a:solidFill>
              </a:defRPr>
            </a:pPr>
            <a:r>
              <a:t>Performance Lab · 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02589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800" b="0">
                <a:solidFill>
                  <a:srgbClr val="BBBBBB"/>
                </a:solidFill>
              </a:defRPr>
            </a:pPr>
            <a:r>
              <a:t>风洞感数据墙</a:t>
            </a:r>
            <a:br/>
            <a:r>
              <a:t>触摸交互 · 实时性能可视化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539496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2-urban-tra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572000"/>
            <a:ext cx="5394960" cy="1691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126480" y="5760720"/>
            <a:ext cx="5394960" cy="502920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5824728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900"/>
                </a:solidFill>
              </a:defRPr>
            </a:pPr>
            <a:r>
              <a:t>城市入口 · City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602589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800" b="0">
                <a:solidFill>
                  <a:srgbClr val="BBBBBB"/>
                </a:solidFill>
              </a:defRPr>
            </a:pPr>
            <a:r>
              <a:t>橙色速度线门廊</a:t>
            </a:r>
            <a:br/>
            <a:r>
              <a:t>城市夜景投射 · 打卡点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572000"/>
            <a:ext cx="539496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304" y="0"/>
            <a:ext cx="54864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6900"/>
                </a:solidFill>
                <a:latin typeface="Menlo"/>
              </a:defRPr>
            </a:pPr>
            <a:r>
              <a:t>ONE MORE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FFFFFF"/>
                </a:solidFill>
              </a:defRPr>
            </a:pPr>
            <a:r>
              <a:t>ULTRA IN MOTION</a:t>
            </a:r>
            <a:br/>
            <a:r>
              <a:t>城市即赛道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BBBBBB"/>
                </a:solidFill>
              </a:defRPr>
            </a:pPr>
            <a:r>
              <a:t>让城市成为赛道的发布方式，将证明:</a:t>
            </a:r>
            <a:br/>
            <a:r>
              <a:t>小米不仅能做智能车，也能重新定义</a:t>
            </a:r>
            <a:br/>
            <a:r>
              <a:t>属于科技品牌的高性能汽车发布会。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50292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Youngs Group · v23 Stage 1 · 火山引擎 Seedream 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474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3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0D0D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3898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D0D0D"/>
                </a:solidFill>
              </a:defRPr>
            </a:pPr>
            <a:r>
              <a:t>确认策略与创意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75564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核心团队确认 Big Idea</a:t>
            </a:r>
            <a:br/>
            <a:r>
              <a:t>「ULTRA IN MOTION」</a:t>
            </a:r>
            <a:br/>
            <a:r>
              <a:t>及四段式叙事框架。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606040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98094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0D0D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9992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D0D0D"/>
                </a:solidFill>
              </a:defRPr>
            </a:pPr>
            <a:r>
              <a:t>进入 Stage 2 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364992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启动视觉识别系统设计</a:t>
            </a:r>
            <a:br/>
            <a:r>
              <a:t>主舞台/空间深化方案</a:t>
            </a:r>
            <a:br/>
            <a:r>
              <a:t>体验区交互脚本。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215384"/>
            <a:ext cx="5029200" cy="127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590288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900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60857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6900"/>
                </a:solidFill>
              </a:defRPr>
            </a:pPr>
            <a:r>
              <a:t>品牌方提案汇报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974336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向 Xiaomi 品牌部</a:t>
            </a:r>
            <a:br/>
            <a:r>
              <a:t>提交完整 Stage1 策略</a:t>
            </a:r>
            <a:br/>
            <a:r>
              <a:t>与创意方案。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5824728"/>
            <a:ext cx="5029200" cy="25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640080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→ END · XIAOMI SU7 ULTRA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