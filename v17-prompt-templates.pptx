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CCCFF"/>
                </a:solidFill>
                <a:latin typeface="Menlo"/>
              </a:defRPr>
            </a:pPr>
            <a:r>
              <a:t>YOUNGS GROUP · 提示词工程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FF"/>
                </a:solidFill>
                <a:latin typeface="Menlo"/>
              </a:defRPr>
            </a:pPr>
            <a:r>
              <a:t>V17 · 2026.06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Menlo"/>
              </a:defRPr>
            </a:pPr>
            <a:r>
              <a:t>GPT IMAGE 2 · INDUSTRIAL PROMPT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0" b="0">
                <a:solidFill>
                  <a:srgbClr val="FFFFFF"/>
                </a:solidFill>
                <a:latin typeface="Arial"/>
              </a:defRPr>
            </a:pPr>
            <a:r>
              <a:t>GPT Image 2</a:t>
            </a:r>
            <a:br/>
            <a:r>
              <a:t>工业级提示词模板库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06240"/>
            <a:ext cx="36576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CCFF"/>
                </a:solidFill>
              </a:defRPr>
            </a:pPr>
            <a:r>
              <a:t>329 案例 · 13 套模板 · 8 大类别</a:t>
            </a:r>
            <a:br/>
            <a:r>
              <a:t>从任务类型 → 结构约束 → 风格材质的三段式管线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999CC"/>
                </a:solidFill>
                <a:latin typeface="Menlo"/>
              </a:defRPr>
            </a:pPr>
            <a:r>
              <a:t>来源: awesome-gpt-image-2 (freestylefly)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943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CC"/>
                </a:solidFill>
                <a:latin typeface="Menlo"/>
              </a:defRPr>
            </a:pPr>
            <a:r>
              <a:t>→  方向键翻页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02 / 09 · 核心心法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CORE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AFAF8"/>
                </a:solidFill>
              </a:defRPr>
            </a:pPr>
            <a:r>
              <a:t>三段式提示词管线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300" b="0">
                <a:solidFill>
                  <a:srgbClr val="737373"/>
                </a:solidFill>
              </a:defRPr>
            </a:pPr>
            <a:r>
              <a:t>不是“写一段描述”，而是按顺序锁定三个维度——每一步不可跳过，不可倒序。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347472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2FA7"/>
                </a:solidFill>
                <a:latin typeface="Menlo"/>
              </a:defRPr>
            </a:pPr>
            <a:r>
              <a:t>STEP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AFAF8"/>
                </a:solidFill>
              </a:defRPr>
            </a:pPr>
            <a:r>
              <a:t>先定任务类型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AAAAAA"/>
                </a:solidFill>
              </a:defRPr>
            </a:pPr>
            <a:r>
              <a:t>UI / 海报 / 电商 / 信息图</a:t>
            </a:r>
            <a:br/>
            <a:r>
              <a:t>角色 / 场景 / 插画 / 摄影</a:t>
            </a:r>
            <a:br/>
            <a:r>
              <a:t>——选错类型，后续全废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2834640"/>
            <a:ext cx="3474720" cy="50800"/>
          </a:xfrm>
          <a:prstGeom prst="rect">
            <a:avLst/>
          </a:prstGeom>
          <a:solidFill>
            <a:srgbClr val="33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30175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5FCC"/>
                </a:solidFill>
                <a:latin typeface="Menlo"/>
              </a:defRPr>
            </a:pPr>
            <a: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33832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AFAF8"/>
                </a:solidFill>
              </a:defRPr>
            </a:pPr>
            <a:r>
              <a:t>再锁结构约束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402336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AAAAAA"/>
                </a:solidFill>
              </a:defRPr>
            </a:pPr>
            <a:r>
              <a:t>比例 / 布局 / 模块数量</a:t>
            </a:r>
            <a:br/>
            <a:r>
              <a:t>镜头语言 / 构图方式</a:t>
            </a:r>
            <a:br/>
            <a:r>
              <a:t>——没有结构，AI 自由发挥必翻车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36992" y="2834640"/>
            <a:ext cx="3474720" cy="50800"/>
          </a:xfrm>
          <a:prstGeom prst="rect">
            <a:avLst/>
          </a:prstGeom>
          <a:solidFill>
            <a:srgbClr val="44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30175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488EE"/>
                </a:solidFill>
                <a:latin typeface="Menlo"/>
              </a:defRPr>
            </a:pPr>
            <a: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33832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AFAF8"/>
                </a:solidFill>
              </a:defRPr>
            </a:pPr>
            <a:r>
              <a:t>最后补风格材质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402336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AAAAAA"/>
                </a:solidFill>
              </a:defRPr>
            </a:pPr>
            <a:r>
              <a:t>色彩 / 光线 / 笔触</a:t>
            </a:r>
            <a:br/>
            <a:r>
              <a:t>氛围 / 质感 / 颗粒度</a:t>
            </a:r>
            <a:br/>
            <a:r>
              <a:t>——前面两层对了，这层才锦上添花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109728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539496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37373"/>
                </a:solidFill>
              </a:defRPr>
            </a:pPr>
            <a:r>
              <a:t>提示词的工程深度，决定了 AI 生成的上限。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03 / 09 · 模板体系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13 TEMPLATES · 8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0A0A0A"/>
                </a:solidFill>
              </a:defRPr>
            </a:pPr>
            <a:r>
              <a:t>13 套模板 · 8 大类别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0972800" cy="5029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🎬 海报类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7627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F"/>
                </a:solidFill>
              </a:defRPr>
            </a:pPr>
            <a:r>
              <a:t>运动商业 Campaign · Apple Keynote 科普海报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1762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enlo"/>
              </a:defRPr>
            </a:pPr>
            <a:r>
              <a:t>2套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70048"/>
            <a:ext cx="10972800" cy="502920"/>
          </a:xfrm>
          <a:prstGeom prst="rect">
            <a:avLst/>
          </a:prstGeom>
          <a:solidFill>
            <a:srgbClr val="33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🎨 插画类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F"/>
                </a:solidFill>
              </a:defRPr>
            </a:pPr>
            <a:r>
              <a:t>IP角色插画 · 品牌故事插画 · 活动延展视觉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7432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enlo"/>
              </a:defRPr>
            </a:pPr>
            <a:r>
              <a:t>1套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36976"/>
            <a:ext cx="10972800" cy="502920"/>
          </a:xfrm>
          <a:prstGeom prst="rect">
            <a:avLst/>
          </a:prstGeom>
          <a:solidFill>
            <a:srgbClr val="44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101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📊 信息图类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31012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F"/>
                </a:solidFill>
              </a:defRPr>
            </a:pPr>
            <a:r>
              <a:t>品牌战略图 · 活动信息图 · 数据可视化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31012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enlo"/>
              </a:defRPr>
            </a:pPr>
            <a:r>
              <a:t>1套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03904"/>
            <a:ext cx="10972800" cy="502920"/>
          </a:xfrm>
          <a:prstGeom prst="rect">
            <a:avLst/>
          </a:prstGeom>
          <a:solidFill>
            <a:srgbClr val="1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770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🎭 场景叙事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F"/>
                </a:solidFill>
              </a:defRPr>
            </a:pPr>
            <a:r>
              <a:t>活动现场氛围图 · 沉浸式体验 · 概念场景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87705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enlo"/>
              </a:defRPr>
            </a:pPr>
            <a:r>
              <a:t>1套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70832"/>
            <a:ext cx="10972800" cy="502920"/>
          </a:xfrm>
          <a:prstGeom prst="rect">
            <a:avLst/>
          </a:prstGeom>
          <a:solidFill>
            <a:srgbClr val="8B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4398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🧑 人物角色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44398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F"/>
                </a:solidFill>
              </a:defRPr>
            </a:pPr>
            <a:r>
              <a:t>IP多姿态参考 · 品牌吉祥物动作设定 · 4×4网格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44398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enlo"/>
              </a:defRPr>
            </a:pPr>
            <a:r>
              <a:t>1套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37760"/>
            <a:ext cx="10972800" cy="50292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1091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🏛️ 建筑空间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01091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F"/>
                </a:solidFill>
              </a:defRPr>
            </a:pPr>
            <a:r>
              <a:t>展厅设计 · 活动空间 · 舞台设计效果图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0109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enlo"/>
              </a:defRPr>
            </a:pPr>
            <a:r>
              <a:t>1套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04688"/>
            <a:ext cx="10972800" cy="50292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📷 摄影类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5778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F"/>
                </a:solidFill>
              </a:defRPr>
            </a:pPr>
            <a:r>
              <a:t>活动摄影 · 产品场景 · 人物纪实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5778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enlo"/>
              </a:defRPr>
            </a:pPr>
            <a:r>
              <a:t>1套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071616"/>
            <a:ext cx="10972800" cy="50292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14476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🎯 通用KV格式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14476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0E0FF"/>
                </a:solidFill>
              </a:defRPr>
            </a:pPr>
            <a:r>
              <a:t>活动主视觉 · 社媒投放 · 全场景适配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1447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enlo"/>
              </a:defRPr>
            </a:pPr>
            <a:r>
              <a:t>1套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329 个生产验证案例  ·  覆盖品牌/活动/电竞/展会等全业务场景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04 / 09 · 海报类模板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POSTER · CAMPAIGN + APPLE KEYNOTE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0A0A0A"/>
                </a:solidFill>
              </a:defRPr>
            </a:pPr>
            <a:r>
              <a:t>海报类  ·  2 套核心模板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30352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A0A"/>
                </a:solidFill>
              </a:defRPr>
            </a:pPr>
            <a:r>
              <a:t>运动商业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品牌活动主视觉 / 展会 KV / 赛事海报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303520" cy="4572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▸ 主体占据画面 50%-70%，成为最强视觉锚点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4956612000"/>
            <a:ext cx="5303520" cy="4572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495674916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▸ 道具当构图骨架：指定角度/比例/位置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969910480800"/>
            <a:ext cx="5303520" cy="4572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96991061796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▸ 版式三选一：单主视觉 / 三联画 / 数据涂鸦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454864349600"/>
            <a:ext cx="5303520" cy="4572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45486448676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▸ 大字标题 + 辅助短句，信息克制「少而准」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939818218400"/>
            <a:ext cx="5303520" cy="4572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93981835556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▸ 输出 1:1 或 4:5，适配社媒传播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011680"/>
            <a:ext cx="530352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12140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A0A"/>
                </a:solidFill>
              </a:defRPr>
            </a:pPr>
            <a:r>
              <a:t>Apple Keynote 科普海报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505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品牌文化海报 / 产品发布视觉 / 品牌故事 KV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743200"/>
            <a:ext cx="5303520" cy="4572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88036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▸ 极简纯白、干净现代，Apple 式产品发布会语言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84956612000"/>
            <a:ext cx="5303520" cy="4572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8495674916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▸ 主体占据画面 50%-70%，强烈立体感和棚拍光影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969910480800"/>
            <a:ext cx="5303520" cy="4572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96991061796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▸ 底部四列 icon + 标题 + 短说明，细竖线分隔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454864349600"/>
            <a:ext cx="5303520" cy="4572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145486448676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▸ 标题巨大 → 副标题克制 → 正文小而清晰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939818218400"/>
            <a:ext cx="5303520" cy="4572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193981835556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▸ 禁止：旧纸背景、复杂网格、圆角卡片、厚边框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577840"/>
            <a:ext cx="1097280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0A0A"/>
                </a:solidFill>
              </a:defRPr>
            </a:pPr>
            <a:r>
              <a:t>⚠️ 共同防坑：主体必须放大、文字必须可读、先锁版式结构再填内容、禁止杂乱拼贴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05 / 09 · 创意类模板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ILLUSTRATION · INFOGRAPHIC · SCENE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FAFAF8"/>
                </a:solidFill>
              </a:defRPr>
            </a:pPr>
            <a:r>
              <a:t>插画  ·  信息图  ·  场景叙事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47472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AFAF8"/>
                </a:solidFill>
              </a:defRPr>
            </a:pPr>
            <a:r>
              <a:t>🎨 插画类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IP角色 / 品牌故事 / 活动延展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BBBBBB"/>
                </a:solidFill>
              </a:defRPr>
            </a:pPr>
            <a:r>
              <a:t>画风: 日漫/水彩/扁平/厚涂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1176600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BBBBBB"/>
                </a:solidFill>
              </a:defRPr>
            </a:pPr>
            <a:r>
              <a:t>线条: 细腻/粗犷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023500913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BBBBBB"/>
                </a:solidFill>
              </a:defRPr>
            </a:pPr>
            <a:r>
              <a:t>构图: 近景/中景/远景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0535235825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C8553D"/>
                </a:solidFill>
              </a:defRPr>
            </a:pPr>
            <a:r>
              <a:t>⚠️ 锁死笔触关键词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4046970737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C8553D"/>
                </a:solidFill>
              </a:defRPr>
            </a:pPr>
            <a:r>
              <a:t>⚠️ 慎用大师名，提取特征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2194560"/>
            <a:ext cx="3474720" cy="54864"/>
          </a:xfrm>
          <a:prstGeom prst="rect">
            <a:avLst/>
          </a:prstGeom>
          <a:solidFill>
            <a:srgbClr val="33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2331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AFAF8"/>
                </a:solidFill>
              </a:defRPr>
            </a:pPr>
            <a:r>
              <a:t>📊 信息图类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品牌战略 / 活动信息图 / 数据可视化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31089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BBBBBB"/>
                </a:solidFill>
              </a:defRPr>
            </a:pPr>
            <a:r>
              <a:t>3-5个模块（含图标+标题+说明）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351176600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BBBBBB"/>
                </a:solidFill>
              </a:defRPr>
            </a:pPr>
            <a:r>
              <a:t>图表: 流程/对比/关系/时间线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7023500913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BBBBBB"/>
                </a:solidFill>
              </a:defRPr>
            </a:pPr>
            <a:r>
              <a:t>风格: 专业报告/科普插画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0535235825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C8553D"/>
                </a:solidFill>
              </a:defRPr>
            </a:pPr>
            <a:r>
              <a:t>⚠️ 强制声明「模块数量」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14046970737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C8553D"/>
                </a:solidFill>
              </a:defRPr>
            </a:pPr>
            <a:r>
              <a:t>⚠️ 短句文案，不要长篇文字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36992" y="2194560"/>
            <a:ext cx="3474720" cy="54864"/>
          </a:xfrm>
          <a:prstGeom prst="rect">
            <a:avLst/>
          </a:prstGeom>
          <a:solidFill>
            <a:srgbClr val="44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2331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AFAF8"/>
                </a:solidFill>
              </a:defRPr>
            </a:pPr>
            <a:r>
              <a:t>🎭 场景叙事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活动现场 / 沉浸式体验 / 概念场景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31089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BBBBBB"/>
                </a:solidFill>
              </a:defRPr>
            </a:pPr>
            <a:r>
              <a:t>镜头: 广角建立/中景叙事/特写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351176600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BBBBBB"/>
                </a:solidFill>
              </a:defRPr>
            </a:pPr>
            <a:r>
              <a:t>氛围: 紧张/温暖/悬疑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7023500913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BBBBBB"/>
                </a:solidFill>
              </a:defRPr>
            </a:pPr>
            <a:r>
              <a:t>色调: 冷/暖/高反差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10535235825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C8553D"/>
                </a:solidFill>
              </a:defRPr>
            </a:pPr>
            <a:r>
              <a:t>⚠️ 要有「动词」让画面动起来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14046970737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 b="0">
                <a:solidFill>
                  <a:srgbClr val="C8553D"/>
                </a:solidFill>
              </a:defRPr>
            </a:pPr>
            <a:r>
              <a:t>⚠️ Low angle / Dutch angle 增戏剧冲突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06 / 09 · 专业类模板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CHARACTER · ARCHITECTURE · PHOTOGRAPHY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0A0A0A"/>
                </a:solidFill>
              </a:defRPr>
            </a:pPr>
            <a:r>
              <a:t>人物角色  ·  建筑空间  ·  摄影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47472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A0A"/>
                </a:solidFill>
              </a:defRPr>
            </a:pPr>
            <a:r>
              <a:t>🧑 人物角色 · 动作分解表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4×4 网格 / 16面板 / 角色一致性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所有面板同一角色：脸型+服装+比例+发型一致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6216031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每格: 动作标题 → 完整姿态 → 3-4行说明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692401887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叠加方向箭头/旋转箭头/运动轨迹线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538587743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支持: 黑白线稿/3D灰阶/漫画分镜/教学图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384773599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适用于动画/舞蹈/游戏动作参考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2103120"/>
            <a:ext cx="3474720" cy="54864"/>
          </a:xfrm>
          <a:prstGeom prst="rect">
            <a:avLst/>
          </a:prstGeom>
          <a:solidFill>
            <a:srgbClr val="33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2240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A0A"/>
                </a:solidFill>
              </a:defRPr>
            </a:pPr>
            <a:r>
              <a:t>🏛️ 建筑空间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6334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展厅设计 / 活动空间 / 舞台效果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30175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材质: 木/石/金属/玻璃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3846216031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风格: 现代简约/工业/新中式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7692401887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结构: 开敞/分区，动线明确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11538587743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C8553D"/>
                </a:solidFill>
              </a:defRPr>
            </a:pPr>
            <a:r>
              <a:t>⚠️ Eye-level 视角，防透视变形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15384773599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C8553D"/>
                </a:solidFill>
              </a:defRPr>
            </a:pPr>
            <a:r>
              <a:t>⚠️ 室外冷光 + 室内暖光 = 高级感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36992" y="2103120"/>
            <a:ext cx="3474720" cy="54864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2240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A0A"/>
                </a:solidFill>
              </a:defRPr>
            </a:pPr>
            <a:r>
              <a:t>📷 摄影类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6334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活动纪实 / 产品场景 / 人物摄影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30175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参数: 35mm/85mm + 浅景深/深景深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3846216031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光线: 自然光/夜景霓虹/逆光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7692401887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0A0A0A"/>
                </a:solidFill>
              </a:defRPr>
            </a:pPr>
            <a:r>
              <a:t>细节: 肤质/材质/胶片颗粒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11538587743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C8553D"/>
                </a:solidFill>
              </a:defRPr>
            </a:pPr>
            <a:r>
              <a:t>⚠️ 用 f/1.4 代替「浅景深」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15384773599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C8553D"/>
                </a:solidFill>
              </a:defRPr>
            </a:pPr>
            <a:r>
              <a:t>⚠️ 加「雀斑」「纹理」增真实感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07 / 09 · 通用格式 + 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UNIVERSAL FORMAT · QUICK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AFAF8"/>
                </a:solidFill>
              </a:defRPr>
            </a:pPr>
            <a:r>
              <a:t>通用输出格式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▸ 比例 16:9 / 4:5 → 根据投放平台选择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11755943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▸ 主体 → 构图(居中/对角线/三分法) → 镜头语言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023490855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▸ 光影: 明暗对比/轮廓光/柔光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535225767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▸ 色调: 品牌主色 + 情绪关键词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046960679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▸ 大字标题 + 辅助文案，信息层级 3 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55869559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▸ 约束: 文字可读、主体突出、色调统一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70430503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CCCCC"/>
                </a:solidFill>
              </a:defRPr>
            </a:pPr>
            <a:r>
              <a:t>▸ 输出: 商业海报，可直接社媒投放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548640" cy="38100"/>
          </a:xfrm>
          <a:prstGeom prst="rect">
            <a:avLst/>
          </a:prstGeom>
          <a:solidFill>
            <a:srgbClr val="44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AFAF8"/>
                </a:solidFill>
              </a:defRPr>
            </a:pPr>
            <a:r>
              <a:t>案例速查索引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BBBBB"/>
                </a:solidFill>
              </a:defRPr>
            </a:pPr>
            <a:r>
              <a:t>▸ 品牌快闪店 → 城市生命系统图谱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511755943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BBBBB"/>
                </a:solidFill>
              </a:defRPr>
            </a:pPr>
            <a:r>
              <a:t>▸ 运动/赛事KV → 运动商业 Campaign 模板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7023490855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BBBBB"/>
                </a:solidFill>
              </a:defRPr>
            </a:pPr>
            <a:r>
              <a:t>▸ IP角色插画 → 日系奇幻插画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0535225767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BBBBB"/>
                </a:solidFill>
              </a:defRPr>
            </a:pPr>
            <a:r>
              <a:t>▸ 品牌发布视觉 → Apple Keynote 模板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4046960679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BBBBB"/>
                </a:solidFill>
              </a:defRPr>
            </a:pPr>
            <a:r>
              <a:t>▸ 技术信息图 → RAG技术详解图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55869559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BBBBB"/>
                </a:solidFill>
              </a:defRPr>
            </a:pPr>
            <a:r>
              <a:t>▸ 多角色卡牌 → 十二黄金圣斗士卡牌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070430503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BBBBB"/>
                </a:solidFill>
              </a:defRPr>
            </a:pPr>
            <a:r>
              <a:t>▸ 古风品牌故事 → 短歌行/赤壁怀古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582165415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BBBBB"/>
                </a:solidFill>
              </a:defRPr>
            </a:pPr>
            <a:r>
              <a:t>▸ 产品界面示意 → Ailln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08 / 09 · 避坑清单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8 CRITICAL PITFALLS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0A0A0A"/>
                </a:solidFill>
              </a:defRPr>
            </a:pPr>
            <a:r>
              <a:t>关键避坑清单  ·  8 条铁律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03520" cy="10058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4008" cy="10058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0A0A"/>
                </a:solidFill>
              </a:defRPr>
            </a:pPr>
            <a:r>
              <a:t>❌ 主体太小/不突出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FA7"/>
                </a:solidFill>
              </a:defRPr>
            </a:pPr>
            <a:r>
              <a:t>✅ 主体占据画面 50%-70%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03120"/>
            <a:ext cx="5303520" cy="10058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103120"/>
            <a:ext cx="64008" cy="1005840"/>
          </a:xfrm>
          <a:prstGeom prst="rect">
            <a:avLst/>
          </a:prstGeom>
          <a:solidFill>
            <a:srgbClr val="33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0A0A"/>
                </a:solidFill>
              </a:defRPr>
            </a:pPr>
            <a:r>
              <a:t>❌ 信息过载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7860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35FCC"/>
                </a:solidFill>
              </a:defRPr>
            </a:pPr>
            <a:r>
              <a:t>✅ 少而准，3-5个模块足够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18688"/>
            <a:ext cx="5303520" cy="10058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18688"/>
            <a:ext cx="64008" cy="1005840"/>
          </a:xfrm>
          <a:prstGeom prst="rect">
            <a:avLst/>
          </a:prstGeom>
          <a:solidFill>
            <a:srgbClr val="44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1012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0A0A"/>
                </a:solidFill>
              </a:defRPr>
            </a:pPr>
            <a:r>
              <a:t>❌ 风格描述模糊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9417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488EE"/>
                </a:solidFill>
              </a:defRPr>
            </a:pPr>
            <a:r>
              <a:t>✅ 锁死笔触/光影/材质关键词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218688"/>
            <a:ext cx="5303520" cy="10058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218688"/>
            <a:ext cx="64008" cy="1005840"/>
          </a:xfrm>
          <a:prstGeom prst="rect">
            <a:avLst/>
          </a:prstGeom>
          <a:solidFill>
            <a:srgbClr val="1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31012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0A0A"/>
                </a:solidFill>
              </a:defRPr>
            </a:pPr>
            <a:r>
              <a:t>❌ 文字不可读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69417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6B5A"/>
                </a:solidFill>
              </a:defRPr>
            </a:pPr>
            <a:r>
              <a:t>✅ 要求「文字清晰可读」+ 指定具体文案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34256"/>
            <a:ext cx="5303520" cy="10058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334256"/>
            <a:ext cx="64008" cy="1005840"/>
          </a:xfrm>
          <a:prstGeom prst="rect">
            <a:avLst/>
          </a:prstGeom>
          <a:solidFill>
            <a:srgbClr val="8B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256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0A0A"/>
                </a:solidFill>
              </a:defRPr>
            </a:pPr>
            <a:r>
              <a:t>❌ 镜头语言缺失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0974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3A8B"/>
                </a:solidFill>
              </a:defRPr>
            </a:pPr>
            <a:r>
              <a:t>✅ 标注 Dutch angle / Low angle / Wide angle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334256"/>
            <a:ext cx="5303520" cy="10058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334256"/>
            <a:ext cx="64008" cy="100584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4256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0A0A"/>
                </a:solidFill>
              </a:defRPr>
            </a:pPr>
            <a:r>
              <a:t>❌ 背景杂乱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0974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4A62"/>
                </a:solidFill>
              </a:defRPr>
            </a:pPr>
            <a:r>
              <a:t>✅ 要求「干净构图」或「纯色背景」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449824"/>
            <a:ext cx="5303520" cy="10058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449824"/>
            <a:ext cx="64008" cy="100584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54126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0A0A"/>
                </a:solidFill>
              </a:defRPr>
            </a:pPr>
            <a:r>
              <a:t>❌ 角色变形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9253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C4033"/>
                </a:solidFill>
              </a:defRPr>
            </a:pPr>
            <a:r>
              <a:t>✅ 先锁定「同一角色/同一比例/同一服装」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5449824"/>
            <a:ext cx="5303520" cy="10058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5449824"/>
            <a:ext cx="64008" cy="100584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54126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0A0A"/>
                </a:solidFill>
              </a:defRPr>
            </a:pPr>
            <a:r>
              <a:t>❌ 古风出现现代元素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9253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8553D"/>
                </a:solidFill>
              </a:defRPr>
            </a:pPr>
            <a:r>
              <a:t>✅ 强制加「No modern elements」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CCCFF"/>
                </a:solidFill>
                <a:latin typeface="Menlo"/>
              </a:defRPr>
            </a:pPr>
            <a:r>
              <a:t>09 / 09 · 闭幕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FF"/>
                </a:solidFill>
                <a:latin typeface="Menlo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Menlo"/>
              </a:defRPr>
            </a:pPr>
            <a:r>
              <a:t>KEY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5200" b="0">
                <a:solidFill>
                  <a:srgbClr val="FFFFFF"/>
                </a:solidFill>
              </a:defRPr>
            </a:pPr>
            <a:r>
              <a:t>提示词的工程深度</a:t>
            </a:r>
            <a:br/>
            <a:r>
              <a:t>决定 AI 生成的上限。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89120"/>
            <a:ext cx="4572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500" b="0">
                <a:solidFill>
                  <a:srgbClr val="CCCCFF"/>
                </a:solidFill>
              </a:defRPr>
            </a:pPr>
            <a:r>
              <a:t>329 个案例证明：好的提示词不是"写一段描述"，而是</a:t>
            </a:r>
            <a:br/>
            <a:r>
              <a:t>先定类型 → 再锁结构 → 最后补风格。三步不可跳过。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10972800" cy="12700"/>
          </a:xfrm>
          <a:prstGeom prst="rect">
            <a:avLst/>
          </a:prstGeom>
          <a:solidFill>
            <a:srgbClr val="66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AADD"/>
                </a:solidFill>
                <a:latin typeface="Menlo"/>
              </a:defRPr>
            </a:pPr>
            <a:r>
              <a:t>01  任务类型先锁定，选错全盘皆输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2816" y="61264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AADD"/>
                </a:solidFill>
                <a:latin typeface="Menlo"/>
              </a:defRPr>
            </a:pPr>
            <a:r>
              <a:t>02  结构约束是骨架，没有结构 AI 必翻车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61264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AADD"/>
                </a:solidFill>
                <a:latin typeface="Menlo"/>
              </a:defRPr>
            </a:pPr>
            <a:r>
              <a:t>03  风格材质是皮肤，前两层对了再谈美学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AADD"/>
                </a:solidFill>
                <a:latin typeface="Menlo"/>
              </a:defRPr>
            </a:pPr>
            <a:r>
              <a:t>04  防坑清单 = 每张图的出厂质检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64008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AADD"/>
                </a:solidFill>
                <a:latin typeface="Menlo"/>
              </a:defRPr>
            </a:pPr>
            <a:r>
              <a:t>05  案例速查 = 生产环境的快速定位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