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1-st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804672"/>
            <a:ext cx="5166360" cy="290607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384048"/>
            <a:ext cx="530352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737373"/>
                </a:solidFill>
              </a:defRPr>
            </a:pPr>
            <a:r>
              <a:t>P01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84048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373"/>
                </a:solidFill>
                <a:latin typeface="Menlo"/>
              </a:defRPr>
            </a:pPr>
            <a:r>
              <a:t>COVER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576072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373"/>
                </a:solidFill>
              </a:defRPr>
            </a:pPr>
            <a:r>
              <a:t>封面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92256" y="6464808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737373"/>
                </a:solidFill>
                <a:latin typeface="Menlo"/>
              </a:defRPr>
            </a:pPr>
            <a: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309360"/>
            <a:ext cx="11045952" cy="12700"/>
          </a:xfrm>
          <a:prstGeom prst="rect">
            <a:avLst/>
          </a:prstGeom>
          <a:solidFill>
            <a:srgbClr val="CCC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64808"/>
            <a:ext cx="50292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600" b="0">
                <a:solidFill>
                  <a:srgbClr val="737373"/>
                </a:solidFill>
                <a:latin typeface="Menlo"/>
              </a:defRPr>
            </a:pPr>
            <a:r>
              <a:t>V26.2 · PORSCHE 2026 LAUNCH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38912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C49A2A"/>
                </a:solidFill>
                <a:latin typeface="Menlo"/>
              </a:defRPr>
            </a:pPr>
            <a:r>
              <a:t>PORSCHE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170432"/>
            <a:ext cx="5852160" cy="4023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49A2A"/>
                </a:solidFill>
                <a:latin typeface="Menlo"/>
              </a:defRPr>
            </a:pPr>
            <a:r>
              <a:t>CREATIVE PROPOSAL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645920"/>
            <a:ext cx="5852160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BBBBB"/>
                </a:solidFill>
              </a:defRPr>
            </a:pPr>
            <a:r>
              <a:t>保时捷 2026 中国旗舰发布会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2157984"/>
            <a:ext cx="475488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ELEMENTS OF SPEED · 速度的本源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" y="2542032"/>
            <a:ext cx="4937760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37373"/>
                </a:solidFill>
                <a:latin typeface="Menlo"/>
              </a:defRPr>
            </a:pPr>
            <a:r>
              <a:t>Brand-specific · Visual-first · Bid-winning · Layout-safe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5650992"/>
            <a:ext cx="1234440" cy="254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5806440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373"/>
                </a:solidFill>
                <a:latin typeface="Menlo"/>
              </a:defRPr>
            </a:pPr>
            <a:r>
              <a:t>Creative proposal for Porsche China 2026 flagship launch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530352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737373"/>
                </a:solidFill>
              </a:defRPr>
            </a:pPr>
            <a:r>
              <a:t>P02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84048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373"/>
                </a:solidFill>
                <a:latin typeface="Menlo"/>
              </a:defRPr>
            </a:pPr>
            <a:r>
              <a:t>OPENING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76072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373"/>
                </a:solidFill>
              </a:defRPr>
            </a:pPr>
            <a:r>
              <a:t>主题宣言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92256" y="6464808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737373"/>
                </a:solidFill>
                <a:latin typeface="Menlo"/>
              </a:defRPr>
            </a:pPr>
            <a: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09360"/>
            <a:ext cx="11045952" cy="12700"/>
          </a:xfrm>
          <a:prstGeom prst="rect">
            <a:avLst/>
          </a:prstGeom>
          <a:solidFill>
            <a:srgbClr val="CCC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64808"/>
            <a:ext cx="50292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600" b="0">
                <a:solidFill>
                  <a:srgbClr val="737373"/>
                </a:solidFill>
                <a:latin typeface="Menlo"/>
              </a:defRPr>
            </a:pPr>
            <a:r>
              <a:t>V26.2 · PORSCHE 2026 LAUNCH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25880"/>
            <a:ext cx="6492240" cy="1965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4800" b="0">
                <a:solidFill>
                  <a:srgbClr val="0D0D0D"/>
                </a:solidFill>
              </a:defRPr>
            </a:pPr>
            <a:r>
              <a:t>SPEED IS NOT</a:t>
            </a:r>
            <a:br/>
            <a:r>
              <a:t>A NUMBER.</a:t>
            </a:r>
            <a:br/>
            <a:r>
              <a:t>SPEED IS A FEELING.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12463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737373"/>
                </a:solidFill>
              </a:defRPr>
            </a:pPr>
            <a:r>
              <a:t>以保时捷75年赛道基因为原点，为中国市场打造一场融合速度美学、数字科技与感官沉浸的旗舰发布。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87952"/>
            <a:ext cx="5897880" cy="32918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A8A8A8"/>
                </a:solidFill>
                <a:latin typeface="Menlo"/>
              </a:defRPr>
            </a:pPr>
            <a:r>
              <a:t>Use Porsche heritage, translate speed into sight, sound, and sensation.</a:t>
            </a:r>
          </a:p>
        </p:txBody>
      </p:sp>
      <p:pic>
        <p:nvPicPr>
          <p:cNvPr id="12" name="Picture 11" descr="04-v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097280"/>
            <a:ext cx="3154680" cy="17745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530352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737373"/>
                </a:solidFill>
              </a:defRPr>
            </a:pPr>
            <a:r>
              <a:t>P03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84048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373"/>
                </a:solidFill>
                <a:latin typeface="Menlo"/>
              </a:defRPr>
            </a:pPr>
            <a: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76072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373"/>
                </a:solidFill>
              </a:defRPr>
            </a:pPr>
            <a:r>
              <a:t>目录/路径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92256" y="6464808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737373"/>
                </a:solidFill>
                <a:latin typeface="Menlo"/>
              </a:defRPr>
            </a:pPr>
            <a: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09360"/>
            <a:ext cx="11045952" cy="12700"/>
          </a:xfrm>
          <a:prstGeom prst="rect">
            <a:avLst/>
          </a:prstGeom>
          <a:solidFill>
            <a:srgbClr val="CCC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64808"/>
            <a:ext cx="50292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600" b="0">
                <a:solidFill>
                  <a:srgbClr val="737373"/>
                </a:solidFill>
                <a:latin typeface="Menlo"/>
              </a:defRPr>
            </a:pPr>
            <a:r>
              <a:t>V26.2 · PORSCHE 2026 LAUNCH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96112"/>
            <a:ext cx="3657600" cy="4023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D0D0D"/>
                </a:solidFill>
              </a:defRPr>
            </a:pPr>
            <a:r>
              <a:t>CONTENTS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157984"/>
            <a:ext cx="475488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C49A2A"/>
                </a:solidFill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443984"/>
            <a:ext cx="1115568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49A2A"/>
                </a:solidFill>
                <a:latin typeface="Menlo"/>
              </a:defRPr>
            </a:pPr>
            <a:r>
              <a:t>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736592"/>
            <a:ext cx="1115568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37373"/>
                </a:solidFill>
              </a:defRPr>
            </a:pPr>
            <a:r>
              <a:t>策略与创意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956048"/>
            <a:ext cx="1115568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8A8A8"/>
                </a:solidFill>
                <a:latin typeface="Menlo"/>
              </a:defRPr>
            </a:pPr>
            <a:r>
              <a:t>P04-P09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157984"/>
            <a:ext cx="475488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C49A2A"/>
                </a:solidFill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4443984"/>
            <a:ext cx="1115568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49A2A"/>
                </a:solidFill>
                <a:latin typeface="Menlo"/>
              </a:defRPr>
            </a:pPr>
            <a:r>
              <a:t>VISUAL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4736592"/>
            <a:ext cx="1115568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37373"/>
                </a:solidFill>
              </a:defRPr>
            </a:pPr>
            <a:r>
              <a:t>视觉与系统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4956048"/>
            <a:ext cx="1115568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8A8A8"/>
                </a:solidFill>
                <a:latin typeface="Menlo"/>
              </a:defRPr>
            </a:pPr>
            <a:r>
              <a:t>P10-P12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0368" y="2157984"/>
            <a:ext cx="475488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C49A2A"/>
                </a:solidFill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8" y="4443984"/>
            <a:ext cx="1115568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49A2A"/>
                </a:solidFill>
                <a:latin typeface="Menlo"/>
              </a:defRPr>
            </a:pPr>
            <a:r>
              <a:t>EXPERIENCE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0368" y="4736592"/>
            <a:ext cx="1115568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37373"/>
                </a:solidFill>
              </a:defRPr>
            </a:pPr>
            <a:r>
              <a:t>空间与体验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0368" y="4956048"/>
            <a:ext cx="1115568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8A8A8"/>
                </a:solidFill>
                <a:latin typeface="Menlo"/>
              </a:defRPr>
            </a:pPr>
            <a:r>
              <a:t>P13-P14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88936" y="2157984"/>
            <a:ext cx="475488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C49A2A"/>
                </a:solidFill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88936" y="4443984"/>
            <a:ext cx="1115568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49A2A"/>
                </a:solidFill>
                <a:latin typeface="Menlo"/>
              </a:defRPr>
            </a:pPr>
            <a:r>
              <a:t>DELIVERY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88936" y="4736592"/>
            <a:ext cx="1115568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37373"/>
                </a:solidFill>
              </a:defRPr>
            </a:pPr>
            <a:r>
              <a:t>运营与交付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88936" y="4956048"/>
            <a:ext cx="1115568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8A8A8"/>
                </a:solidFill>
                <a:latin typeface="Menlo"/>
              </a:defRPr>
            </a:pPr>
            <a:r>
              <a:t>P15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530352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737373"/>
                </a:solidFill>
              </a:defRPr>
            </a:pPr>
            <a:r>
              <a:t>P04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84048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373"/>
                </a:solidFill>
                <a:latin typeface="Menlo"/>
              </a:defRPr>
            </a:pPr>
            <a:r>
              <a:t>BRAND DIAGNOSIS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76072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373"/>
                </a:solidFill>
              </a:defRPr>
            </a:pPr>
            <a:r>
              <a:t>品牌气质判断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92256" y="6464808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737373"/>
                </a:solidFill>
                <a:latin typeface="Menlo"/>
              </a:defRPr>
            </a:pPr>
            <a: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09360"/>
            <a:ext cx="11045952" cy="12700"/>
          </a:xfrm>
          <a:prstGeom prst="rect">
            <a:avLst/>
          </a:prstGeom>
          <a:solidFill>
            <a:srgbClr val="CCC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64808"/>
            <a:ext cx="50292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600" b="0">
                <a:solidFill>
                  <a:srgbClr val="737373"/>
                </a:solidFill>
                <a:latin typeface="Menlo"/>
              </a:defRPr>
            </a:pPr>
            <a:r>
              <a:t>V26.2 · PORSCHE 2026 LAUNCH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932688"/>
            <a:ext cx="7132320" cy="4023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D0D0D"/>
                </a:solidFill>
              </a:defRPr>
            </a:pPr>
            <a:r>
              <a:t>BRAND LENS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408176"/>
            <a:ext cx="7132320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737373"/>
                </a:solidFill>
              </a:defRPr>
            </a:pPr>
            <a:r>
              <a:t>品牌气质不是模板，是判断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788920"/>
            <a:ext cx="2971800" cy="1325880"/>
          </a:xfrm>
          <a:prstGeom prst="rect">
            <a:avLst/>
          </a:prstGeom>
          <a:solidFill>
            <a:srgbClr val="EC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" y="2953512"/>
            <a:ext cx="384048" cy="254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3044952"/>
            <a:ext cx="2642616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49A2A"/>
                </a:solidFill>
                <a:latin typeface="Menlo"/>
              </a:defRPr>
            </a:pPr>
            <a:r>
              <a:t>SHOULD FEEL LIKE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410712"/>
            <a:ext cx="2642616" cy="6126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000" b="0">
                <a:solidFill>
                  <a:srgbClr val="0D0D0D"/>
                </a:solidFill>
              </a:defRPr>
            </a:pPr>
            <a:r>
              <a:t>工业优雅·电影光影·克制豪华·赛道仪式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0520" y="2788920"/>
            <a:ext cx="2971800" cy="1325880"/>
          </a:xfrm>
          <a:prstGeom prst="rect">
            <a:avLst/>
          </a:prstGeom>
          <a:solidFill>
            <a:srgbClr val="EC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06824" y="2953512"/>
            <a:ext cx="384048" cy="254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25112" y="3044952"/>
            <a:ext cx="2642616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49A2A"/>
                </a:solidFill>
                <a:latin typeface="Menlo"/>
              </a:defRPr>
            </a:pPr>
            <a:r>
              <a:t>SHOULD NOT FEEL LIKE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3410712"/>
            <a:ext cx="2642616" cy="6126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000" b="0">
                <a:solidFill>
                  <a:srgbClr val="0D0D0D"/>
                </a:solidFill>
              </a:defRPr>
            </a:pPr>
            <a:r>
              <a:t>科技手机发布会·热闹市集·普通车展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0" y="2788920"/>
            <a:ext cx="2971800" cy="1325880"/>
          </a:xfrm>
          <a:prstGeom prst="rect">
            <a:avLst/>
          </a:prstGeom>
          <a:solidFill>
            <a:srgbClr val="EC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27264" y="2953512"/>
            <a:ext cx="384048" cy="254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5552" y="3044952"/>
            <a:ext cx="2642616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49A2A"/>
                </a:solidFill>
                <a:latin typeface="Menlo"/>
              </a:defRPr>
            </a:pPr>
            <a:r>
              <a:t>VISUAL LANGUAGE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45552" y="3410712"/>
            <a:ext cx="2642616" cy="6126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000" b="0">
                <a:solidFill>
                  <a:srgbClr val="0D0D0D"/>
                </a:solidFill>
              </a:defRPr>
            </a:pPr>
            <a:r>
              <a:t>Porsche Gold+Black·衬线标题·材质感·留白克制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530352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737373"/>
                </a:solidFill>
              </a:defRPr>
            </a:pPr>
            <a:r>
              <a:t>P05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84048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373"/>
                </a:solidFill>
                <a:latin typeface="Menlo"/>
              </a:defRPr>
            </a:pPr>
            <a:r>
              <a:t>BRIEF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76072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373"/>
                </a:solidFill>
              </a:defRPr>
            </a:pPr>
            <a:r>
              <a:t>Brief响应矩阵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92256" y="6464808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737373"/>
                </a:solidFill>
                <a:latin typeface="Menlo"/>
              </a:defRPr>
            </a:pPr>
            <a: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09360"/>
            <a:ext cx="11045952" cy="12700"/>
          </a:xfrm>
          <a:prstGeom prst="rect">
            <a:avLst/>
          </a:prstGeom>
          <a:solidFill>
            <a:srgbClr val="CCC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64808"/>
            <a:ext cx="50292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600" b="0">
                <a:solidFill>
                  <a:srgbClr val="737373"/>
                </a:solidFill>
                <a:latin typeface="Menlo"/>
              </a:defRPr>
            </a:pPr>
            <a:r>
              <a:t>V26.2 · PORSCHE 2026 LAUNCH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932688"/>
            <a:ext cx="7863840" cy="4023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D0D0D"/>
                </a:solidFill>
              </a:defRPr>
            </a:pPr>
            <a:r>
              <a:t>COMPLIANCE MATRIX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057400"/>
            <a:ext cx="2395728" cy="329184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075688"/>
            <a:ext cx="2304288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Brief Requirement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01568" y="2057400"/>
            <a:ext cx="2395728" cy="329184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2075688"/>
            <a:ext cx="2304288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Proposal Response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2057400"/>
            <a:ext cx="2395728" cy="329184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0488" y="2075688"/>
            <a:ext cx="2304288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Visual Evidence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87968" y="2057400"/>
            <a:ext cx="2395728" cy="329184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33688" y="2075688"/>
            <a:ext cx="2304288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Delivery Proof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487168"/>
            <a:ext cx="2395728" cy="493776"/>
          </a:xfrm>
          <a:prstGeom prst="rect">
            <a:avLst/>
          </a:prstGeom>
          <a:solidFill>
            <a:srgbClr val="EC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560320"/>
            <a:ext cx="234086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D0D0D"/>
                </a:solidFill>
              </a:defRPr>
            </a:pPr>
            <a:r>
              <a:t>旗舰仪式感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560320"/>
            <a:ext cx="234086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D0D0D"/>
                </a:solidFill>
              </a:defRPr>
            </a:pPr>
            <a:r>
              <a:t>75年赛道基因×数字奢华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2560320"/>
            <a:ext cx="234086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49A2A"/>
                </a:solidFill>
              </a:defRPr>
            </a:pPr>
            <a:r>
              <a:t>P01-P02封面+宣言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2560320"/>
            <a:ext cx="234086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D0D0D"/>
                </a:solidFill>
              </a:defRPr>
            </a:pPr>
            <a:r>
              <a:t>品牌诊断P04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2980944"/>
            <a:ext cx="2395728" cy="493776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054096"/>
            <a:ext cx="234086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D0D0D"/>
                </a:solidFill>
              </a:defRPr>
            </a:pPr>
            <a:r>
              <a:t>2000座空间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3054096"/>
            <a:ext cx="234086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D0D0D"/>
                </a:solidFill>
              </a:defRPr>
            </a:pPr>
            <a:r>
              <a:t>上海西岸艺术中心·18000㎡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3054096"/>
            <a:ext cx="234086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49A2A"/>
                </a:solidFill>
              </a:defRPr>
            </a:pPr>
            <a:r>
              <a:t>P12空间平面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3054096"/>
            <a:ext cx="234086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D0D0D"/>
                </a:solidFill>
              </a:defRPr>
            </a:pPr>
            <a:r>
              <a:t>总包统筹P15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474720"/>
            <a:ext cx="2395728" cy="493776"/>
          </a:xfrm>
          <a:prstGeom prst="rect">
            <a:avLst/>
          </a:prstGeom>
          <a:solidFill>
            <a:srgbClr val="EC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547872"/>
            <a:ext cx="234086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D0D0D"/>
                </a:solidFill>
              </a:defRPr>
            </a:pPr>
            <a:r>
              <a:t>预算控制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3547872"/>
            <a:ext cx="234086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D0D0D"/>
                </a:solidFill>
              </a:defRPr>
            </a:pPr>
            <a:r>
              <a:t>Core/Essential/Flexible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3547872"/>
            <a:ext cx="234086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49A2A"/>
                </a:solidFill>
              </a:defRPr>
            </a:pPr>
            <a:r>
              <a:t>P15预算逻辑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400" y="3547872"/>
            <a:ext cx="234086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D0D0D"/>
                </a:solidFill>
              </a:defRPr>
            </a:pPr>
            <a:r>
              <a:t>取舍说明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530352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737373"/>
                </a:solidFill>
              </a:defRPr>
            </a:pPr>
            <a:r>
              <a:t>P06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84048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373"/>
                </a:solidFill>
                <a:latin typeface="Menlo"/>
              </a:defRPr>
            </a:pPr>
            <a:r>
              <a:t>INSIGHT CONFLICT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76072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373"/>
                </a:solidFill>
              </a:defRPr>
            </a:pPr>
            <a:r>
              <a:t>洞察冲突模型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92256" y="6464808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737373"/>
                </a:solidFill>
                <a:latin typeface="Menlo"/>
              </a:defRPr>
            </a:pPr>
            <a: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09360"/>
            <a:ext cx="11045952" cy="12700"/>
          </a:xfrm>
          <a:prstGeom prst="rect">
            <a:avLst/>
          </a:prstGeom>
          <a:solidFill>
            <a:srgbClr val="CCC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64808"/>
            <a:ext cx="50292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600" b="0">
                <a:solidFill>
                  <a:srgbClr val="737373"/>
                </a:solidFill>
                <a:latin typeface="Menlo"/>
              </a:defRPr>
            </a:pPr>
            <a:r>
              <a:t>V26.2 · PORSCHE 2026 LAUNCH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96112"/>
            <a:ext cx="6583680" cy="4023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D0D0D"/>
                </a:solidFill>
              </a:defRPr>
            </a:pPr>
            <a:r>
              <a:t>INSIGHT IS A TENSION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423160"/>
            <a:ext cx="2240280" cy="1508760"/>
          </a:xfrm>
          <a:prstGeom prst="rect">
            <a:avLst/>
          </a:prstGeom>
          <a:solidFill>
            <a:srgbClr val="EC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2423160"/>
            <a:ext cx="384048" cy="384048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944368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00400"/>
            <a:ext cx="1911095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49A2A"/>
                </a:solidFill>
                <a:latin typeface="Menlo"/>
              </a:defRPr>
            </a:pPr>
            <a:r>
              <a:t>Surface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56432"/>
            <a:ext cx="1911095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373"/>
                </a:solidFill>
              </a:defRPr>
            </a:pPr>
            <a:r>
              <a:t>表层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49039"/>
            <a:ext cx="1911095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000" b="0">
                <a:solidFill>
                  <a:srgbClr val="0D0D0D"/>
                </a:solidFill>
              </a:defRPr>
            </a:pPr>
            <a:r>
              <a:t>中国豪华车市场持续增长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1528" y="3200400"/>
            <a:ext cx="347472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49A2A"/>
                </a:solidFill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38728" y="2423160"/>
            <a:ext cx="2240280" cy="1508760"/>
          </a:xfrm>
          <a:prstGeom prst="rect">
            <a:avLst/>
          </a:prstGeom>
          <a:solidFill>
            <a:srgbClr val="EC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38728" y="2423160"/>
            <a:ext cx="384048" cy="384048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38728" y="2944368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3200400"/>
            <a:ext cx="1911095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49A2A"/>
                </a:solidFill>
                <a:latin typeface="Menlo"/>
              </a:defRPr>
            </a:pPr>
            <a:r>
              <a:t>Tension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456432"/>
            <a:ext cx="1911095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373"/>
                </a:solidFill>
              </a:defRPr>
            </a:pPr>
            <a:r>
              <a:t>矛盾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3749039"/>
            <a:ext cx="1911095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000" b="0">
                <a:solidFill>
                  <a:srgbClr val="0D0D0D"/>
                </a:solidFill>
              </a:defRPr>
            </a:pPr>
            <a:r>
              <a:t>认知≠体验——听过很快但没亲身体验过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3200400"/>
            <a:ext cx="347472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49A2A"/>
                </a:solidFill>
              </a:defRPr>
            </a:pPr>
            <a: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7648" y="2423160"/>
            <a:ext cx="2240280" cy="1508760"/>
          </a:xfrm>
          <a:prstGeom prst="rect">
            <a:avLst/>
          </a:prstGeom>
          <a:solidFill>
            <a:srgbClr val="EC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27648" y="2423160"/>
            <a:ext cx="384048" cy="384048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7648" y="2944368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200400"/>
            <a:ext cx="1911095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49A2A"/>
                </a:solidFill>
                <a:latin typeface="Menlo"/>
              </a:defRPr>
            </a:pPr>
            <a:r>
              <a:t>Opportunity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456432"/>
            <a:ext cx="1911095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373"/>
                </a:solidFill>
              </a:defRPr>
            </a:pPr>
            <a:r>
              <a:t>机会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749039"/>
            <a:ext cx="1911095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000" b="0">
                <a:solidFill>
                  <a:srgbClr val="0D0D0D"/>
                </a:solidFill>
              </a:defRPr>
            </a:pPr>
            <a:r>
              <a:t>把速度从参数变成体感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59368" y="3200400"/>
            <a:ext cx="347472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49A2A"/>
                </a:solidFill>
              </a:defRPr>
            </a:pPr>
            <a: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16568" y="2423160"/>
            <a:ext cx="2240280" cy="1508760"/>
          </a:xfrm>
          <a:prstGeom prst="rect">
            <a:avLst/>
          </a:prstGeom>
          <a:solidFill>
            <a:srgbClr val="EC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16568" y="2423160"/>
            <a:ext cx="384048" cy="384048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16568" y="2944368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3200400"/>
            <a:ext cx="1911095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49A2A"/>
                </a:solidFill>
                <a:latin typeface="Menlo"/>
              </a:defRPr>
            </a:pPr>
            <a:r>
              <a:t>Translation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3456432"/>
            <a:ext cx="1911095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373"/>
                </a:solidFill>
              </a:defRPr>
            </a:pPr>
            <a:r>
              <a:t>转译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3749039"/>
            <a:ext cx="1911095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000" b="0">
                <a:solidFill>
                  <a:srgbClr val="0D0D0D"/>
                </a:solidFill>
              </a:defRPr>
            </a:pPr>
            <a:r>
              <a:t>Elements of Speed: 风·火·声·光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530352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737373"/>
                </a:solidFill>
              </a:defRPr>
            </a:pPr>
            <a:r>
              <a:t>P07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84048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373"/>
                </a:solidFill>
                <a:latin typeface="Menlo"/>
              </a:defRPr>
            </a:pPr>
            <a:r>
              <a:t>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76072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373"/>
                </a:solidFill>
              </a:defRPr>
            </a:pPr>
            <a:r>
              <a:t>策略总纲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92256" y="6464808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737373"/>
                </a:solidFill>
                <a:latin typeface="Menlo"/>
              </a:defRPr>
            </a:pPr>
            <a: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09360"/>
            <a:ext cx="11045952" cy="12700"/>
          </a:xfrm>
          <a:prstGeom prst="rect">
            <a:avLst/>
          </a:prstGeom>
          <a:solidFill>
            <a:srgbClr val="CCC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64808"/>
            <a:ext cx="50292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600" b="0">
                <a:solidFill>
                  <a:srgbClr val="737373"/>
                </a:solidFill>
                <a:latin typeface="Menlo"/>
              </a:defRPr>
            </a:pPr>
            <a:r>
              <a:t>V26.2 · PORSCHE 2026 LAUNCH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96112"/>
            <a:ext cx="6675120" cy="4023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THREE-LAYER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2048256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49A2A"/>
                </a:solidFill>
                <a:latin typeface="Menlo"/>
              </a:defRPr>
            </a:pPr>
            <a:r>
              <a:t>CORE CLAIM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10896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49A2A"/>
                </a:solidFill>
              </a:defRPr>
            </a:pPr>
            <a:r>
              <a:t>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187952"/>
            <a:ext cx="2240280" cy="11155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52144" y="4352544"/>
            <a:ext cx="384048" cy="254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4443984"/>
            <a:ext cx="1911095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49A2A"/>
                </a:solidFill>
                <a:latin typeface="Menlo"/>
              </a:defRPr>
            </a:pPr>
            <a:r>
              <a:t>Audience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4809744"/>
            <a:ext cx="1911095" cy="4023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defRPr sz="900" b="0">
                <a:solidFill>
                  <a:srgbClr val="BBBBBB"/>
                </a:solidFill>
              </a:defRPr>
            </a:pPr>
            <a:r>
              <a:t>中国车主&lt;35岁·追求独特性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10896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49A2A"/>
                </a:solidFill>
              </a:defRPr>
            </a:pPr>
            <a:r>
              <a:t>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00600" y="4187952"/>
            <a:ext cx="2240280" cy="11155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46904" y="4352544"/>
            <a:ext cx="384048" cy="254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65192" y="4443984"/>
            <a:ext cx="1911095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49A2A"/>
                </a:solidFill>
                <a:latin typeface="Menlo"/>
              </a:defRPr>
            </a:pPr>
            <a:r>
              <a:t>Brand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65192" y="4809744"/>
            <a:ext cx="1911095" cy="4023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defRPr sz="900" b="0">
                <a:solidFill>
                  <a:srgbClr val="BBBBBB"/>
                </a:solidFill>
              </a:defRPr>
            </a:pPr>
            <a:r>
              <a:t>75年赛道基因·NPS连续8年第一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310896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49A2A"/>
                </a:solidFill>
              </a:defRPr>
            </a:pPr>
            <a:r>
              <a:t>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95360" y="4187952"/>
            <a:ext cx="2240280" cy="11155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41664" y="4352544"/>
            <a:ext cx="384048" cy="254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59952" y="4443984"/>
            <a:ext cx="1911095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49A2A"/>
                </a:solidFill>
                <a:latin typeface="Menlo"/>
              </a:defRPr>
            </a:pPr>
            <a:r>
              <a:t>Experience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59952" y="4809744"/>
            <a:ext cx="1911095" cy="4023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defRPr sz="900" b="0">
                <a:solidFill>
                  <a:srgbClr val="BBBBBB"/>
                </a:solidFill>
              </a:defRPr>
            </a:pPr>
            <a:r>
              <a:t>风洞+交响乐+激光=可触碰的速度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530352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737373"/>
                </a:solidFill>
              </a:defRPr>
            </a:pPr>
            <a:r>
              <a:t>P08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84048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373"/>
                </a:solidFill>
                <a:latin typeface="Menlo"/>
              </a:defRPr>
            </a:pPr>
            <a:r>
              <a:t>BIG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76072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373"/>
                </a:solidFill>
              </a:defRPr>
            </a:pPr>
            <a:r>
              <a:t>核心概念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92256" y="6464808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737373"/>
                </a:solidFill>
                <a:latin typeface="Menlo"/>
              </a:defRPr>
            </a:pPr>
            <a: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09360"/>
            <a:ext cx="11045952" cy="12700"/>
          </a:xfrm>
          <a:prstGeom prst="rect">
            <a:avLst/>
          </a:prstGeom>
          <a:solidFill>
            <a:srgbClr val="CCC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64808"/>
            <a:ext cx="50292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600" b="0">
                <a:solidFill>
                  <a:srgbClr val="737373"/>
                </a:solidFill>
                <a:latin typeface="Menlo"/>
              </a:defRPr>
            </a:pPr>
            <a:r>
              <a:t>V26.2 · PORSCHE 2026 LAUNCH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170432"/>
            <a:ext cx="5943600" cy="12344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4800" b="0">
                <a:solidFill>
                  <a:srgbClr val="0D0D0D"/>
                </a:solidFill>
              </a:defRPr>
            </a:pPr>
            <a:r>
              <a:t>ELEMENTS</a:t>
            </a:r>
            <a:br/>
            <a:r>
              <a:t>OF SPEED</a:t>
            </a:r>
            <a:br/>
            <a:r>
              <a:t>速度的本源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670048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737373"/>
                </a:solidFill>
              </a:defRPr>
            </a:pPr>
            <a:r>
              <a:t>将空气、火焰、声音、光影转化为可感知的沉浸式体验。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675887"/>
            <a:ext cx="1901952" cy="1170432"/>
          </a:xfrm>
          <a:prstGeom prst="rect">
            <a:avLst/>
          </a:prstGeom>
          <a:solidFill>
            <a:srgbClr val="EC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7824" y="3840480"/>
            <a:ext cx="384048" cy="254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931920"/>
            <a:ext cx="1572768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49A2A"/>
                </a:solidFill>
                <a:latin typeface="Menlo"/>
              </a:defRPr>
            </a:pPr>
            <a:r>
              <a:t>WHY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4297680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defRPr sz="900" b="0">
                <a:solidFill>
                  <a:srgbClr val="0D0D0D"/>
                </a:solidFill>
              </a:defRPr>
            </a:pPr>
            <a:r>
              <a:t>速度是保时捷75年唯一母题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90672" y="3675887"/>
            <a:ext cx="1901952" cy="1170432"/>
          </a:xfrm>
          <a:prstGeom prst="rect">
            <a:avLst/>
          </a:prstGeom>
          <a:solidFill>
            <a:srgbClr val="EC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36976" y="3840480"/>
            <a:ext cx="384048" cy="254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55264" y="3931920"/>
            <a:ext cx="1572768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49A2A"/>
                </a:solidFill>
                <a:latin typeface="Menlo"/>
              </a:defRPr>
            </a:pPr>
            <a:r>
              <a:t>HOW IT WORKS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55264" y="4297680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defRPr sz="900" b="0">
                <a:solidFill>
                  <a:srgbClr val="0D0D0D"/>
                </a:solidFill>
              </a:defRPr>
            </a:pPr>
            <a:r>
              <a:t>风洞×交响乐×激光=可触碰的速度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49824" y="3675887"/>
            <a:ext cx="1901952" cy="1170432"/>
          </a:xfrm>
          <a:prstGeom prst="rect">
            <a:avLst/>
          </a:prstGeom>
          <a:solidFill>
            <a:srgbClr val="EC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96128" y="3840480"/>
            <a:ext cx="384048" cy="254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14416" y="3931920"/>
            <a:ext cx="1572768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49A2A"/>
                </a:solidFill>
                <a:latin typeface="Menlo"/>
              </a:defRPr>
            </a:pPr>
            <a:r>
              <a:t>WHAT IT BRINGS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14416" y="4297680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defRPr sz="900" b="0">
                <a:solidFill>
                  <a:srgbClr val="0D0D0D"/>
                </a:solidFill>
              </a:defRPr>
            </a:pPr>
            <a:r>
              <a:t>一场不叫发布会的速度沉浸艺术展</a:t>
            </a:r>
          </a:p>
        </p:txBody>
      </p:sp>
      <p:pic>
        <p:nvPicPr>
          <p:cNvPr id="23" name="Picture 22" descr="01-st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143000"/>
            <a:ext cx="3337560" cy="187737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530352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737373"/>
                </a:solidFill>
              </a:defRPr>
            </a:pPr>
            <a:r>
              <a:t>P09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84048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373"/>
                </a:solidFill>
                <a:latin typeface="Menlo"/>
              </a:defRPr>
            </a:pPr>
            <a:r>
              <a:t>CREATIVE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76072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373"/>
                </a:solidFill>
              </a:defRPr>
            </a:pPr>
            <a:r>
              <a:t>创意机制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92256" y="6464808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737373"/>
                </a:solidFill>
                <a:latin typeface="Menlo"/>
              </a:defRPr>
            </a:pPr>
            <a: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09360"/>
            <a:ext cx="11045952" cy="12700"/>
          </a:xfrm>
          <a:prstGeom prst="rect">
            <a:avLst/>
          </a:prstGeom>
          <a:solidFill>
            <a:srgbClr val="CCC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64808"/>
            <a:ext cx="50292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600" b="0">
                <a:solidFill>
                  <a:srgbClr val="737373"/>
                </a:solidFill>
                <a:latin typeface="Menlo"/>
              </a:defRPr>
            </a:pPr>
            <a:r>
              <a:t>V26.2 · PORSCHE 2026 LAUNCH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914400"/>
            <a:ext cx="6583680" cy="4023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FROM IDEA TO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237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49A2A"/>
                </a:solidFill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3072384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49A2A"/>
                </a:solidFill>
                <a:latin typeface="Menlo"/>
              </a:defRPr>
            </a:pPr>
            <a:r>
              <a:t>TRIGGER 触发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493008"/>
            <a:ext cx="1389888" cy="6217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000" b="0">
                <a:solidFill>
                  <a:srgbClr val="BBBBBB"/>
                </a:solidFill>
              </a:defRPr>
            </a:pPr>
            <a:r>
              <a:t>入口领取速度护照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2724912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49A2A"/>
                </a:solidFill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5237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49A2A"/>
                </a:solidFill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5768" y="3072384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49A2A"/>
                </a:solidFill>
                <a:latin typeface="Menlo"/>
              </a:defRPr>
            </a:pPr>
            <a:r>
              <a:t>ACTION 行动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493008"/>
            <a:ext cx="1389888" cy="6217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000" b="0">
                <a:solidFill>
                  <a:srgbClr val="BBBBBB"/>
                </a:solidFill>
              </a:defRPr>
            </a:pPr>
            <a:r>
              <a:t>四区打卡完成任务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2724912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49A2A"/>
                </a:solidFill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5237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49A2A"/>
                </a:solidFill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6048" y="3072384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49A2A"/>
                </a:solidFill>
                <a:latin typeface="Menlo"/>
              </a:defRPr>
            </a:pPr>
            <a:r>
              <a:t>REWARD 奖励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3493008"/>
            <a:ext cx="1389888" cy="6217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000" b="0">
                <a:solidFill>
                  <a:srgbClr val="BBBBBB"/>
                </a:solidFill>
              </a:defRPr>
            </a:pPr>
            <a:r>
              <a:t>收集印章兑换徽章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76288" y="2724912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49A2A"/>
                </a:solidFill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25237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49A2A"/>
                </a:solidFill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96328" y="3072384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49A2A"/>
                </a:solidFill>
                <a:latin typeface="Menlo"/>
              </a:defRPr>
            </a:pPr>
            <a:r>
              <a:t>SHARE 分享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3493008"/>
            <a:ext cx="1389888" cy="6217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000" b="0">
                <a:solidFill>
                  <a:srgbClr val="BBBBBB"/>
                </a:solidFill>
              </a:defRPr>
            </a:pPr>
            <a:r>
              <a:t>生成速度记忆卡片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6568" y="2724912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49A2A"/>
                </a:solidFill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25237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49A2A"/>
                </a:solidFill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3072384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49A2A"/>
                </a:solidFill>
                <a:latin typeface="Menlo"/>
              </a:defRPr>
            </a:pPr>
            <a:r>
              <a:t>AMPLIFY 放大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3493008"/>
            <a:ext cx="1389888" cy="6217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000" b="0">
                <a:solidFill>
                  <a:srgbClr val="BBBBBB"/>
                </a:solidFill>
              </a:defRPr>
            </a:pPr>
            <a:r>
              <a:t>官方聚合话题引爆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892040"/>
            <a:ext cx="10680192" cy="502920"/>
          </a:xfrm>
          <a:prstGeom prst="rect">
            <a:avLst/>
          </a:prstGeom>
          <a:solidFill>
            <a:srgbClr val="EC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956048"/>
            <a:ext cx="10314432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D0D0D"/>
                </a:solidFill>
              </a:defRPr>
            </a:pPr>
            <a:r>
              <a:t>速度护照→四区打卡→收集印章→生成记忆卡→#ElementsOfSpeed 话题聚合·全链路UGC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530352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737373"/>
                </a:solidFill>
              </a:defRPr>
            </a:pPr>
            <a:r>
              <a:t>P10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84048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373"/>
                </a:solidFill>
                <a:latin typeface="Menlo"/>
              </a:defRPr>
            </a:pPr>
            <a:r>
              <a:t>MOODBOARD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76072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373"/>
                </a:solidFill>
              </a:defRPr>
            </a:pPr>
            <a:r>
              <a:t>视觉母题板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92256" y="6464808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737373"/>
                </a:solidFill>
                <a:latin typeface="Menlo"/>
              </a:defRPr>
            </a:pPr>
            <a: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09360"/>
            <a:ext cx="11045952" cy="12700"/>
          </a:xfrm>
          <a:prstGeom prst="rect">
            <a:avLst/>
          </a:prstGeom>
          <a:solidFill>
            <a:srgbClr val="CCC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64808"/>
            <a:ext cx="50292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600" b="0">
                <a:solidFill>
                  <a:srgbClr val="737373"/>
                </a:solidFill>
                <a:latin typeface="Menlo"/>
              </a:defRPr>
            </a:pPr>
            <a:r>
              <a:t>V26.2 · PORSCHE 2026 LAUNCH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41248"/>
            <a:ext cx="6949440" cy="4023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D0D0D"/>
                </a:solidFill>
              </a:defRPr>
            </a:pPr>
            <a:r>
              <a:t>VISUAL MOTIF BOARD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1828800"/>
            <a:ext cx="3886200" cy="2971800"/>
          </a:xfrm>
          <a:prstGeom prst="rect">
            <a:avLst/>
          </a:prstGeom>
          <a:solidFill>
            <a:srgbClr val="EC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92608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37373"/>
                </a:solidFill>
                <a:latin typeface="Menlo"/>
              </a:defRPr>
            </a:pPr>
            <a:r>
              <a:t>MAIN REFERENCE IMAGE</a:t>
            </a:r>
            <a:br/>
            <a:r>
              <a:t>(55% area)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0600" y="1828800"/>
            <a:ext cx="1417320" cy="1170432"/>
          </a:xfrm>
          <a:prstGeom prst="rect">
            <a:avLst/>
          </a:prstGeom>
          <a:solidFill>
            <a:srgbClr val="EC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92240" y="1828800"/>
            <a:ext cx="1417320" cy="1170432"/>
          </a:xfrm>
          <a:prstGeom prst="rect">
            <a:avLst/>
          </a:prstGeom>
          <a:solidFill>
            <a:srgbClr val="EC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80" y="1828800"/>
            <a:ext cx="1417320" cy="1170432"/>
          </a:xfrm>
          <a:prstGeom prst="rect">
            <a:avLst/>
          </a:prstGeom>
          <a:solidFill>
            <a:srgbClr val="EC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00600" y="3401568"/>
            <a:ext cx="1417320" cy="1170432"/>
          </a:xfrm>
          <a:prstGeom prst="rect">
            <a:avLst/>
          </a:prstGeom>
          <a:solidFill>
            <a:srgbClr val="EC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3401568"/>
            <a:ext cx="1417320" cy="1170432"/>
          </a:xfrm>
          <a:prstGeom prst="rect">
            <a:avLst/>
          </a:prstGeom>
          <a:solidFill>
            <a:srgbClr val="EC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80" y="3401568"/>
            <a:ext cx="1417320" cy="1170432"/>
          </a:xfrm>
          <a:prstGeom prst="rect">
            <a:avLst/>
          </a:prstGeom>
          <a:solidFill>
            <a:srgbClr val="EC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857232" y="4809744"/>
            <a:ext cx="1508760" cy="210312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57232" y="4809744"/>
            <a:ext cx="1508760" cy="2103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  <a:latin typeface="Menlo"/>
              </a:defRPr>
            </a:pPr>
            <a:r>
              <a:t>#C49A2A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57232" y="5129784"/>
            <a:ext cx="1508760" cy="210312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7232" y="5129784"/>
            <a:ext cx="1508760" cy="2103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  <a:latin typeface="Menlo"/>
              </a:defRPr>
            </a:pPr>
            <a:r>
              <a:t>#0D0D0D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57232" y="5449824"/>
            <a:ext cx="1508760" cy="210312"/>
          </a:xfrm>
          <a:prstGeom prst="rect">
            <a:avLst/>
          </a:prstGeom>
          <a:solidFill>
            <a:srgbClr val="A8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57232" y="5449824"/>
            <a:ext cx="1508760" cy="2103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  <a:latin typeface="Menlo"/>
              </a:defRPr>
            </a:pPr>
            <a:r>
              <a:t>#A8A8A8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57232" y="5769864"/>
            <a:ext cx="1508760" cy="210312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57232" y="5769864"/>
            <a:ext cx="1508760" cy="2103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D0D0D"/>
                </a:solidFill>
                <a:latin typeface="Menlo"/>
              </a:defRPr>
            </a:pPr>
            <a:r>
              <a:t>#F8F7F4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1-st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49808"/>
            <a:ext cx="11384280" cy="64036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384048"/>
            <a:ext cx="530352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737373"/>
                </a:solidFill>
              </a:defRPr>
            </a:pPr>
            <a:r>
              <a:t>P11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84048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373"/>
                </a:solidFill>
                <a:latin typeface="Menlo"/>
              </a:defRPr>
            </a:pPr>
            <a:r>
              <a:t>KEY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576072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373"/>
                </a:solidFill>
              </a:defRPr>
            </a:pPr>
            <a:r>
              <a:t>主视觉方向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92256" y="6464808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737373"/>
                </a:solidFill>
                <a:latin typeface="Menlo"/>
              </a:defRPr>
            </a:pPr>
            <a: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309360"/>
            <a:ext cx="11045952" cy="12700"/>
          </a:xfrm>
          <a:prstGeom prst="rect">
            <a:avLst/>
          </a:prstGeom>
          <a:solidFill>
            <a:srgbClr val="CCC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64808"/>
            <a:ext cx="50292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600" b="0">
                <a:solidFill>
                  <a:srgbClr val="737373"/>
                </a:solidFill>
                <a:latin typeface="Menlo"/>
              </a:defRPr>
            </a:pPr>
            <a:r>
              <a:t>V26.2 · PORSCHE 2026 LAUNCH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115568"/>
            <a:ext cx="4023360" cy="9601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4400" b="0">
                <a:solidFill>
                  <a:srgbClr val="FFFFFF"/>
                </a:solidFill>
              </a:defRPr>
            </a:pPr>
            <a:r>
              <a:t>ELEMENTS</a:t>
            </a:r>
            <a:br/>
            <a:r>
              <a:t>OF SPEED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322576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C49A2A"/>
                </a:solidFill>
              </a:defRPr>
            </a:pPr>
            <a:r>
              <a:t>速度的本源·主视觉方向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5532120"/>
            <a:ext cx="260604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37373"/>
                </a:solidFill>
                <a:latin typeface="Menlo"/>
              </a:defRPr>
            </a:pPr>
            <a:r>
              <a:t>Primary hero visual — Gold + Black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530352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737373"/>
                </a:solidFill>
              </a:defRPr>
            </a:pPr>
            <a:r>
              <a:t>P12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84048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373"/>
                </a:solidFill>
                <a:latin typeface="Menlo"/>
              </a:defRPr>
            </a:pPr>
            <a:r>
              <a:t>MASTER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76072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373"/>
                </a:solidFill>
              </a:defRPr>
            </a:pPr>
            <a:r>
              <a:t>空间平面/动线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92256" y="6464808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737373"/>
                </a:solidFill>
                <a:latin typeface="Menlo"/>
              </a:defRPr>
            </a:pPr>
            <a: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09360"/>
            <a:ext cx="11045952" cy="12700"/>
          </a:xfrm>
          <a:prstGeom prst="rect">
            <a:avLst/>
          </a:prstGeom>
          <a:solidFill>
            <a:srgbClr val="CCC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64808"/>
            <a:ext cx="50292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600" b="0">
                <a:solidFill>
                  <a:srgbClr val="737373"/>
                </a:solidFill>
                <a:latin typeface="Menlo"/>
              </a:defRPr>
            </a:pPr>
            <a:r>
              <a:t>V26.2 · PORSCHE 2026 LAUNCH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96112"/>
            <a:ext cx="6492240" cy="4023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D0D0D"/>
                </a:solidFill>
              </a:defRPr>
            </a:pPr>
            <a:r>
              <a:t>MASTER ROUTE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1828800"/>
            <a:ext cx="7543800" cy="3840480"/>
          </a:xfrm>
          <a:prstGeom prst="rect">
            <a:avLst/>
          </a:prstGeom>
          <a:solidFill>
            <a:srgbClr val="EC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347472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37373"/>
                </a:solidFill>
                <a:latin typeface="Menlo"/>
              </a:defRPr>
            </a:pPr>
            <a:r>
              <a:t>DROP PLAN / MAP 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18288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49A2A"/>
                </a:solidFill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9720" y="184708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D0D0D"/>
                </a:solidFill>
                <a:latin typeface="Menlo"/>
              </a:defRPr>
            </a:pPr>
            <a:r>
              <a:t>Arrival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25146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49A2A"/>
                </a:solidFill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53288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D0D0D"/>
                </a:solidFill>
                <a:latin typeface="Menlo"/>
              </a:defRPr>
            </a:pPr>
            <a:r>
              <a:t>Main Space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32004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49A2A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321868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D0D0D"/>
                </a:solidFill>
                <a:latin typeface="Menlo"/>
              </a:defRPr>
            </a:pPr>
            <a:r>
              <a:t>Experience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38862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49A2A"/>
                </a:solidFill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390448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D0D0D"/>
                </a:solidFill>
                <a:latin typeface="Menlo"/>
              </a:defRPr>
            </a:pPr>
            <a:r>
              <a:t>Media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45720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49A2A"/>
                </a:solidFill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459028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D0D0D"/>
                </a:solidFill>
                <a:latin typeface="Menlo"/>
              </a:defRPr>
            </a:pPr>
            <a:r>
              <a:t>Exit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1-st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49808"/>
            <a:ext cx="11384280" cy="64036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384048"/>
            <a:ext cx="530352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737373"/>
                </a:solidFill>
              </a:defRPr>
            </a:pPr>
            <a:r>
              <a:t>P13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84048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373"/>
                </a:solidFill>
                <a:latin typeface="Menlo"/>
              </a:defRPr>
            </a:pPr>
            <a:r>
              <a:t>EFFECT RENDER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576072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373"/>
                </a:solidFill>
              </a:defRPr>
            </a:pPr>
            <a:r>
              <a:t>效果图·主舞台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92256" y="6464808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737373"/>
                </a:solidFill>
                <a:latin typeface="Menlo"/>
              </a:defRPr>
            </a:pPr>
            <a: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309360"/>
            <a:ext cx="11045952" cy="12700"/>
          </a:xfrm>
          <a:prstGeom prst="rect">
            <a:avLst/>
          </a:prstGeom>
          <a:solidFill>
            <a:srgbClr val="CCC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64808"/>
            <a:ext cx="50292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600" b="0">
                <a:solidFill>
                  <a:srgbClr val="737373"/>
                </a:solidFill>
                <a:latin typeface="Menlo"/>
              </a:defRPr>
            </a:pPr>
            <a:r>
              <a:t>V26.2 · PORSCHE 2026 LAUNCH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060704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3600" b="0">
                <a:solidFill>
                  <a:srgbClr val="FFFFFF"/>
                </a:solidFill>
              </a:defRPr>
            </a:pPr>
            <a:r>
              <a:t>MAIN STAGE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572768"/>
            <a:ext cx="2926080" cy="2103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C49A2A"/>
                </a:solidFill>
              </a:defRPr>
            </a:pPr>
            <a:r>
              <a:t>引擎之心·911 GT3旋转展台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650992"/>
            <a:ext cx="7498079" cy="32918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37373"/>
                </a:solidFill>
              </a:defRPr>
            </a:pPr>
            <a:r>
              <a:t>Porsche 911 GT3 定制涂装×悬浮透明LED巨幕×交响乐团现场演绎引擎声浪。Bottom caption: one sentence only.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530352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737373"/>
                </a:solidFill>
              </a:defRPr>
            </a:pPr>
            <a:r>
              <a:t>P14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84048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373"/>
                </a:solidFill>
                <a:latin typeface="Menlo"/>
              </a:defRPr>
            </a:pPr>
            <a:r>
              <a:t>EXPERIENCE ZONES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76072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373"/>
                </a:solidFill>
              </a:defRPr>
            </a:pPr>
            <a:r>
              <a:t>重点体验分区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92256" y="6464808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737373"/>
                </a:solidFill>
                <a:latin typeface="Menlo"/>
              </a:defRPr>
            </a:pPr>
            <a: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09360"/>
            <a:ext cx="11045952" cy="12700"/>
          </a:xfrm>
          <a:prstGeom prst="rect">
            <a:avLst/>
          </a:prstGeom>
          <a:solidFill>
            <a:srgbClr val="CCC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64808"/>
            <a:ext cx="50292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600" b="0">
                <a:solidFill>
                  <a:srgbClr val="737373"/>
                </a:solidFill>
                <a:latin typeface="Menlo"/>
              </a:defRPr>
            </a:pPr>
            <a:r>
              <a:t>V26.2 · PORSCHE 2026 LAUNCH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96112"/>
            <a:ext cx="5760720" cy="4023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D0D0D"/>
                </a:solidFill>
              </a:defRPr>
            </a:pPr>
            <a:r>
              <a:t>EXPERIENCE ZONE</a:t>
            </a:r>
          </a:p>
        </p:txBody>
      </p:sp>
      <p:pic>
        <p:nvPicPr>
          <p:cNvPr id="10" name="Picture 9" descr="03-experie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28800"/>
            <a:ext cx="6583680" cy="37033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635240" y="1828800"/>
            <a:ext cx="3474720" cy="777240"/>
          </a:xfrm>
          <a:prstGeom prst="rect">
            <a:avLst/>
          </a:prstGeom>
          <a:solidFill>
            <a:srgbClr val="EC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81544" y="1993392"/>
            <a:ext cx="384048" cy="254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99831" y="2084832"/>
            <a:ext cx="3145536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49A2A"/>
                </a:solidFill>
                <a:latin typeface="Menlo"/>
              </a:defRPr>
            </a:pPr>
            <a:r>
              <a:t>Guest 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9831" y="2450592"/>
            <a:ext cx="3145536" cy="1371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D0D0D"/>
                </a:solidFill>
              </a:defRPr>
            </a:pPr>
            <a:r>
              <a:t>驾驶模拟器体验·定制化车机互动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35240" y="2788920"/>
            <a:ext cx="3474720" cy="777240"/>
          </a:xfrm>
          <a:prstGeom prst="rect">
            <a:avLst/>
          </a:prstGeom>
          <a:solidFill>
            <a:srgbClr val="EC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81544" y="2953512"/>
            <a:ext cx="384048" cy="254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9831" y="3044952"/>
            <a:ext cx="3145536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49A2A"/>
                </a:solidFill>
                <a:latin typeface="Menlo"/>
              </a:defRPr>
            </a:pPr>
            <a:r>
              <a:t>Content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9831" y="3410712"/>
            <a:ext cx="3145536" cy="1371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D0D0D"/>
                </a:solidFill>
              </a:defRPr>
            </a:pPr>
            <a:r>
              <a:t>个人速度数据报告·社交媒体即时分享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35240" y="3749040"/>
            <a:ext cx="3474720" cy="777240"/>
          </a:xfrm>
          <a:prstGeom prst="rect">
            <a:avLst/>
          </a:prstGeom>
          <a:solidFill>
            <a:srgbClr val="EC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81544" y="3913632"/>
            <a:ext cx="384048" cy="254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99831" y="4005072"/>
            <a:ext cx="3145536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49A2A"/>
                </a:solidFill>
                <a:latin typeface="Menlo"/>
              </a:defRPr>
            </a:pPr>
            <a:r>
              <a:t>Scale/Capacity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9831" y="4370832"/>
            <a:ext cx="3145536" cy="1371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D0D0D"/>
                </a:solidFill>
              </a:defRPr>
            </a:pPr>
            <a:r>
              <a:t>同时容纳80人·单人体验8分钟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35240" y="4709160"/>
            <a:ext cx="3474720" cy="777240"/>
          </a:xfrm>
          <a:prstGeom prst="rect">
            <a:avLst/>
          </a:prstGeom>
          <a:solidFill>
            <a:srgbClr val="EC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81544" y="4873752"/>
            <a:ext cx="384048" cy="254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99831" y="4965192"/>
            <a:ext cx="3145536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49A2A"/>
                </a:solidFill>
                <a:latin typeface="Menlo"/>
              </a:defRPr>
            </a:pPr>
            <a:r>
              <a:t>Brand Element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99831" y="5330952"/>
            <a:ext cx="3145536" cy="1371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D0D0D"/>
                </a:solidFill>
              </a:defRPr>
            </a:pPr>
            <a:r>
              <a:t>Porsche Gold贯穿·盾徽定制界面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530352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737373"/>
                </a:solidFill>
              </a:defRPr>
            </a:pPr>
            <a:r>
              <a:t>P15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84048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373"/>
                </a:solidFill>
                <a:latin typeface="Menlo"/>
              </a:defRPr>
            </a:pPr>
            <a:r>
              <a:t>TECHNICAL/BUDGET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76072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373"/>
                </a:solidFill>
              </a:defRPr>
            </a:pPr>
            <a:r>
              <a:t>技术交付与预算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92256" y="6464808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737373"/>
                </a:solidFill>
                <a:latin typeface="Menlo"/>
              </a:defRPr>
            </a:pPr>
            <a: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09360"/>
            <a:ext cx="11045952" cy="12700"/>
          </a:xfrm>
          <a:prstGeom prst="rect">
            <a:avLst/>
          </a:prstGeom>
          <a:solidFill>
            <a:srgbClr val="CCC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64808"/>
            <a:ext cx="50292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600" b="0">
                <a:solidFill>
                  <a:srgbClr val="737373"/>
                </a:solidFill>
                <a:latin typeface="Menlo"/>
              </a:defRPr>
            </a:pPr>
            <a:r>
              <a:t>V26.2 · PORSCHE 2026 LAUNCH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96112"/>
            <a:ext cx="8778240" cy="4023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CONTROL COST, PROTECT MOMENT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" y="2057400"/>
            <a:ext cx="1691640" cy="237744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075688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Core 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057400"/>
            <a:ext cx="530352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BBBBB"/>
                </a:solidFill>
              </a:defRPr>
            </a:pPr>
            <a:r>
              <a:t>舞台+灯光+音响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63240" y="2240280"/>
            <a:ext cx="2386584" cy="128016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" y="2715768"/>
            <a:ext cx="1691640" cy="237744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734056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Essential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2715768"/>
            <a:ext cx="530352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BBBBB"/>
                </a:solidFill>
              </a:defRPr>
            </a:pPr>
            <a:r>
              <a:t>AVL+DECO+运营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63240" y="2898648"/>
            <a:ext cx="1484985" cy="128016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" y="3374136"/>
            <a:ext cx="1691640" cy="237744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3392424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Flexible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3374136"/>
            <a:ext cx="530352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BBBBB"/>
                </a:solidFill>
              </a:defRPr>
            </a:pPr>
            <a:r>
              <a:t>互动+物料+传播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63240" y="3557016"/>
            <a:ext cx="901598" cy="128016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" y="4032504"/>
            <a:ext cx="1691640" cy="237744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050792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4032504"/>
            <a:ext cx="530352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BBBBB"/>
                </a:solidFill>
              </a:defRPr>
            </a:pPr>
            <a:r>
              <a:t>报批+安保+应急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63240" y="4215384"/>
            <a:ext cx="530352" cy="128016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874519"/>
            <a:ext cx="2423160" cy="2468880"/>
          </a:xfrm>
          <a:prstGeom prst="rect">
            <a:avLst/>
          </a:prstGeom>
          <a:solidFill>
            <a:srgbClr val="EC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34272" y="2039112"/>
            <a:ext cx="384048" cy="254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0" y="2130552"/>
            <a:ext cx="2093976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49A2A"/>
                </a:solidFill>
                <a:latin typeface="Menlo"/>
              </a:defRPr>
            </a:pPr>
            <a:r>
              <a:t>Risk Matrix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2496312"/>
            <a:ext cx="2093976" cy="17556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defRPr sz="800" b="0">
                <a:solidFill>
                  <a:srgbClr val="BBBBBB"/>
                </a:solidFill>
              </a:defRPr>
            </a:pPr>
            <a:r>
              <a:t>搭建:承重不足→降级→驻场工程师</a:t>
            </a:r>
            <a:br/>
            <a:r>
              <a:t>AVL:设备故障→备份→冗余方案</a:t>
            </a:r>
            <a:br/>
            <a:r>
              <a:t>人流:交叉拥堵→单向动线→限流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