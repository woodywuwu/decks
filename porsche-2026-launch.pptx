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1-st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14400"/>
            <a:ext cx="12191695" cy="68578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92640" y="0"/>
            <a:ext cx="54864" cy="68580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4747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37373"/>
                </a:solidFill>
                <a:latin typeface="Menlo"/>
              </a:defRPr>
            </a:pPr>
            <a:r>
              <a:t>PORSCHE · 2026 CHINA FLAGSHIP LAUNCH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34747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37373"/>
                </a:solidFill>
                <a:latin typeface="Menlo"/>
              </a:defRPr>
            </a:pPr>
            <a:r>
              <a:t>01 / &lt;function T at 0x107ecce00&gt;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49A2A"/>
                </a:solidFill>
                <a:latin typeface="Menlo"/>
              </a:defRPr>
            </a:pPr>
            <a:r>
              <a:t>CREATIVE PROPOSAL · 创意投标方案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10058400" cy="2011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6000" b="0">
                <a:solidFill>
                  <a:srgbClr val="FFFFFF"/>
                </a:solidFill>
              </a:defRPr>
            </a:pPr>
            <a:r>
              <a:t>Porsche 2026</a:t>
            </a:r>
            <a:br/>
            <a:r>
              <a:t>中国旗舰发布会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114800"/>
            <a:ext cx="3200400" cy="254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48056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BBBBBB"/>
                </a:solidFill>
              </a:defRPr>
            </a:pPr>
            <a:r>
              <a:t>以保时捷 75 年赛道基因为原点，为中国市场量身打造一场</a:t>
            </a:r>
            <a:br/>
            <a:r>
              <a:t>融合速度美学、数字科技与感官沉浸的旗舰产品首秀。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03504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37373"/>
                </a:solidFill>
                <a:latin typeface="Menlo"/>
              </a:defRPr>
            </a:pPr>
            <a:r>
              <a:t>Youngs Group · 创意群  | 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03504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49A2A"/>
                </a:solidFill>
                <a:latin typeface="Menlo"/>
              </a:defRPr>
            </a:pPr>
            <a:r>
              <a:t>2026.06 · V1.0 含AI效果图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37373"/>
                </a:solidFill>
                <a:latin typeface="Menlo"/>
              </a:defRPr>
            </a:pPr>
            <a:r>
              <a:t>02 / &lt;function T at 0x107ecce00&gt; · 品牌势能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34747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37373"/>
                </a:solidFill>
                <a:latin typeface="Menlo"/>
              </a:defRPr>
            </a:pPr>
            <a:r>
              <a:t>BRAND MOMENTUM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548640" cy="381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3000" b="0">
                <a:solidFill>
                  <a:srgbClr val="0D0D0D"/>
                </a:solidFill>
              </a:defRPr>
            </a:pPr>
            <a:r>
              <a:t>保时捷中国 · 不可复制的品牌势能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3474720" cy="2651760"/>
          </a:xfrm>
          <a:prstGeom prst="rect">
            <a:avLst/>
          </a:prstGeom>
          <a:solidFill>
            <a:srgbClr val="EC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194560"/>
            <a:ext cx="3474720" cy="508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2926080" cy="10972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4400"/>
              </a:lnSpc>
              <a:defRPr sz="4400" b="1">
                <a:solidFill>
                  <a:srgbClr val="C49A2A"/>
                </a:solidFill>
              </a:defRPr>
            </a:pPr>
            <a:r>
              <a:t>#1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6616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D0D0D"/>
                </a:solidFill>
              </a:defRPr>
            </a:pPr>
            <a:r>
              <a:t>豪华车品牌</a:t>
            </a:r>
            <a:br/>
            <a:r>
              <a:t>NPS 第一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14800"/>
            <a:ext cx="292608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 sz="1000" b="0">
                <a:solidFill>
                  <a:srgbClr val="737373"/>
                </a:solidFill>
              </a:defRPr>
            </a:pPr>
            <a:r>
              <a:t>连续8年中国豪华车市场</a:t>
            </a:r>
            <a:br/>
            <a:r>
              <a:t>品牌净推荐值冠军</a:t>
            </a:r>
            <a:br/>
            <a:r>
              <a:t>超越BBA的用户忠诚度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42816" y="2194560"/>
            <a:ext cx="3474720" cy="2651760"/>
          </a:xfrm>
          <a:prstGeom prst="rect">
            <a:avLst/>
          </a:prstGeom>
          <a:solidFill>
            <a:srgbClr val="EC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42816" y="2194560"/>
            <a:ext cx="3474720" cy="508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7136" y="2377440"/>
            <a:ext cx="2926080" cy="10972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4400"/>
              </a:lnSpc>
              <a:defRPr sz="4400" b="1">
                <a:solidFill>
                  <a:srgbClr val="C49A2A"/>
                </a:solidFill>
              </a:defRPr>
            </a:pPr>
            <a:r>
              <a:t>75</a:t>
            </a:r>
            <a:br/>
            <a:r>
              <a:t>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356616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D0D0D"/>
                </a:solidFill>
              </a:defRPr>
            </a:pPr>
            <a:r>
              <a:t>赛道基因</a:t>
            </a:r>
            <a:br/>
            <a:r>
              <a:t>从未中断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4114800"/>
            <a:ext cx="292608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 sz="1000" b="0">
                <a:solidFill>
                  <a:srgbClr val="737373"/>
                </a:solidFill>
              </a:defRPr>
            </a:pPr>
            <a:r>
              <a:t>1948年至今75年跑车制造史</a:t>
            </a:r>
            <a:br/>
            <a:r>
              <a:t>全球最赚钱的汽车品牌</a:t>
            </a:r>
            <a:br/>
            <a:r>
              <a:t>每台车平均利润远超行业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36992" y="2194560"/>
            <a:ext cx="3474720" cy="2651760"/>
          </a:xfrm>
          <a:prstGeom prst="rect">
            <a:avLst/>
          </a:prstGeom>
          <a:solidFill>
            <a:srgbClr val="EC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36992" y="2194560"/>
            <a:ext cx="3474720" cy="508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2377440"/>
            <a:ext cx="2926080" cy="10972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4400"/>
              </a:lnSpc>
              <a:defRPr sz="4400" b="1">
                <a:solidFill>
                  <a:srgbClr val="C49A2A"/>
                </a:solidFill>
              </a:defRPr>
            </a:pPr>
            <a:r>
              <a:t>60%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2" y="356616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D0D0D"/>
                </a:solidFill>
              </a:defRPr>
            </a:pPr>
            <a:r>
              <a:t>中国车主</a:t>
            </a:r>
            <a:br/>
            <a:r>
              <a:t>平均年龄&lt;35岁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1312" y="4114800"/>
            <a:ext cx="292608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 sz="1000" b="0">
                <a:solidFill>
                  <a:srgbClr val="737373"/>
                </a:solidFill>
              </a:defRPr>
            </a:pPr>
            <a:r>
              <a:t>中国保时捷车主年轻化趋势</a:t>
            </a:r>
            <a:br/>
            <a:r>
              <a:t>远超全球平均年龄53岁</a:t>
            </a:r>
            <a:br/>
            <a:r>
              <a:t>Z世代占比持续攀升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212080"/>
            <a:ext cx="10972800" cy="254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53212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0D0D"/>
                </a:solidFill>
              </a:defRPr>
            </a:pPr>
            <a:r>
              <a:t>品牌洞察：保时捷在中国面临从「豪华跑车」到「科技豪华生活方式」的品牌进化窗口。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37373"/>
                </a:solidFill>
                <a:latin typeface="Menlo"/>
              </a:defRPr>
            </a:pPr>
            <a:r>
              <a:t>03 / &lt;function T at 0x107ecce00&gt; · 人群洞察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34747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37373"/>
                </a:solidFill>
                <a:latin typeface="Menlo"/>
              </a:defRPr>
            </a:pPr>
            <a:r>
              <a:t>AUDIENCE PROFILE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548640" cy="381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3000" b="0">
                <a:solidFill>
                  <a:srgbClr val="0D0D0D"/>
                </a:solidFill>
              </a:defRPr>
            </a:pPr>
            <a:r>
              <a:t>三类核心人群画像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3474720" cy="54864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D0D0D"/>
                </a:solidFill>
              </a:defRPr>
            </a:pPr>
            <a:r>
              <a:t>创变新贵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24912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37373"/>
                </a:solidFill>
                <a:latin typeface="Menlo"/>
              </a:defRPr>
            </a:pPr>
            <a:r>
              <a:t>28-38岁 · 年入300万+</a:t>
            </a:r>
            <a:br/>
            <a:r>
              <a:t>创业者 / 科技高管 / 新经济领袖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347472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100" b="0">
                <a:solidFill>
                  <a:srgbClr val="0D0D0D"/>
                </a:solidFill>
              </a:defRPr>
            </a:pPr>
            <a:r>
              <a:t>追求「独特性」而非炫耀</a:t>
            </a:r>
            <a:br/>
            <a:r>
              <a:t>对科技配置和驾驶体验同等看重</a:t>
            </a:r>
            <a:br/>
            <a:r>
              <a:t>70%在购买前深度研究产品参数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42816" y="2194560"/>
            <a:ext cx="3474720" cy="54864"/>
          </a:xfrm>
          <a:prstGeom prst="rect">
            <a:avLst/>
          </a:prstGeom>
          <a:solidFill>
            <a:srgbClr val="99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42816" y="233172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D0D0D"/>
                </a:solidFill>
              </a:defRPr>
            </a:pPr>
            <a:r>
              <a:t>梦想车主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42816" y="2724912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37373"/>
                </a:solidFill>
                <a:latin typeface="Menlo"/>
              </a:defRPr>
            </a:pPr>
            <a:r>
              <a:t>22-28岁 · 年入80-150万</a:t>
            </a:r>
            <a:br/>
            <a:r>
              <a:t>互联网/金融精英 / 家族二代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42816" y="3200400"/>
            <a:ext cx="347472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100" b="0">
                <a:solidFill>
                  <a:srgbClr val="0D0D0D"/>
                </a:solidFill>
              </a:defRPr>
            </a:pPr>
            <a:r>
              <a:t>保时捷是人生第一个奢侈品牌</a:t>
            </a:r>
            <a:br/>
            <a:r>
              <a:t>社交货币属性极强</a:t>
            </a:r>
            <a:br/>
            <a:r>
              <a:t>进入车友圈=进入新社交层级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36992" y="2194560"/>
            <a:ext cx="3474720" cy="54864"/>
          </a:xfrm>
          <a:prstGeom prst="rect">
            <a:avLst/>
          </a:prstGeom>
          <a:solidFill>
            <a:srgbClr val="C83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36992" y="233172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D0D0D"/>
                </a:solidFill>
              </a:defRPr>
            </a:pPr>
            <a:r>
              <a:t>品牌挚友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36992" y="2724912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37373"/>
                </a:solidFill>
                <a:latin typeface="Menlo"/>
              </a:defRPr>
            </a:pPr>
            <a:r>
              <a:t>35-50岁 · 多车家庭</a:t>
            </a:r>
            <a:br/>
            <a:r>
              <a:t>企业家 / 投资人 / 收藏家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36992" y="3200400"/>
            <a:ext cx="347472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100" b="0">
                <a:solidFill>
                  <a:srgbClr val="0D0D0D"/>
                </a:solidFill>
              </a:defRPr>
            </a:pPr>
            <a:r>
              <a:t>已有2台以上保时捷</a:t>
            </a:r>
            <a:br/>
            <a:r>
              <a:t>关注限量版/特殊定制</a:t>
            </a:r>
            <a:br/>
            <a:r>
              <a:t>传播力最强，自带圈层影响力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37373"/>
                </a:solidFill>
                <a:latin typeface="Menlo"/>
              </a:defRPr>
            </a:pPr>
            <a:r>
              <a:t>04 / &lt;function T at 0x107ecce00&gt; · 竞品视野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34747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37373"/>
                </a:solidFill>
                <a:latin typeface="Menlo"/>
              </a:defRPr>
            </a:pPr>
            <a:r>
              <a:t>COMPETITIVE LANDSCAPE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548640" cy="381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2600" b="0">
                <a:solidFill>
                  <a:srgbClr val="FFFFFF"/>
                </a:solidFill>
              </a:defRPr>
            </a:pPr>
            <a:r>
              <a:t>豪华车发布会 · 体验趋势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5303520" cy="54864"/>
          </a:xfrm>
          <a:prstGeom prst="rect">
            <a:avLst/>
          </a:prstGeom>
          <a:solidFill>
            <a:srgbClr val="A8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12848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BBBBB"/>
                </a:solidFill>
              </a:defRPr>
            </a:pPr>
            <a:r>
              <a:t>Mercedes-Benz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212848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</a:defRPr>
            </a:pPr>
            <a:r>
              <a:t>「沉沉浸式剧院」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2212848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37373"/>
                </a:solidFill>
              </a:defRPr>
            </a:pPr>
            <a:r>
              <a:t>&gt; 8K球幕投影 · 交响乐团现场</a:t>
            </a:r>
            <a:br/>
            <a:r>
              <a:t>发布EQS/Concept系列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2103120"/>
            <a:ext cx="5303520" cy="54864"/>
          </a:xfrm>
          <a:prstGeom prst="rect">
            <a:avLst/>
          </a:prstGeom>
          <a:solidFill>
            <a:srgbClr val="A8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2212848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BBBBB"/>
                </a:solidFill>
              </a:defRPr>
            </a:pPr>
            <a:r>
              <a:t>BMW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2212848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</a:defRPr>
            </a:pPr>
            <a:r>
              <a:t>「未来主义极简」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9800" y="2212848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37373"/>
                </a:solidFill>
              </a:defRPr>
            </a:pPr>
            <a:r>
              <a:t>&gt; 360°环形巨幕 · AI交互体验</a:t>
            </a:r>
            <a:br/>
            <a:r>
              <a:t>「Neue Klasse」概念首发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182112"/>
            <a:ext cx="5303520" cy="54864"/>
          </a:xfrm>
          <a:prstGeom prst="rect">
            <a:avLst/>
          </a:prstGeom>
          <a:solidFill>
            <a:srgbClr val="A8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291840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BBBBB"/>
                </a:solidFill>
              </a:defRPr>
            </a:pPr>
            <a:r>
              <a:t>Lamborghini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3291840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</a:defRPr>
            </a:pPr>
            <a:r>
              <a:t>「赛博朋克派对」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3291840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37373"/>
                </a:solidFill>
              </a:defRPr>
            </a:pPr>
            <a:r>
              <a:t>&gt; 工业厂房改造 · 电音跨界</a:t>
            </a:r>
            <a:br/>
            <a:r>
              <a:t>圈层私享发布模式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3182112"/>
            <a:ext cx="5303520" cy="54864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3291840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49A2A"/>
                </a:solidFill>
              </a:defRPr>
            </a:pPr>
            <a:r>
              <a:t>Porsche 的机会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3291840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</a:defRPr>
            </a:pPr>
            <a:r>
              <a:t>「赛道基因 × 数字奢华」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9800" y="3291840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37373"/>
                </a:solidFill>
              </a:defRPr>
            </a:pPr>
            <a:r>
              <a:t>&gt; 用速度叙事构建差异化</a:t>
            </a:r>
            <a:br/>
            <a:r>
              <a:t>将75年传承转化为沉浸式体验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572000"/>
            <a:ext cx="10972800" cy="127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84632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ts val="2000"/>
              </a:lnSpc>
              <a:defRPr sz="1300" b="0">
                <a:solidFill>
                  <a:srgbClr val="BBBBBB"/>
                </a:solidFill>
              </a:defRPr>
            </a:pPr>
            <a:r>
              <a:t>核心结论：豪华品牌发布会正在从「展示产品」转向「构建世界观」。</a:t>
            </a:r>
            <a:br/>
            <a:r>
              <a:t>保时捷需要一场不是发布会、而是「速度沉浸式艺术展」的全新体验。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1-st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-457200"/>
            <a:ext cx="6858000" cy="385762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37373"/>
                </a:solidFill>
                <a:latin typeface="Menlo"/>
              </a:defRPr>
            </a:pPr>
            <a:r>
              <a:t>05 / &lt;function T at 0x107ecce00&gt; · 创意概念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34747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37373"/>
                </a:solidFill>
                <a:latin typeface="Menlo"/>
              </a:defRPr>
            </a:pPr>
            <a:r>
              <a:t>BIG IDEA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60120"/>
            <a:ext cx="548640" cy="381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4300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49A2A"/>
                </a:solidFill>
                <a:latin typeface="Menlo"/>
              </a:defRPr>
            </a:pPr>
            <a:r>
              <a:t>BIG 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10058400" cy="2560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6400" b="0">
                <a:solidFill>
                  <a:srgbClr val="FFFFFF"/>
                </a:solidFill>
              </a:defRPr>
            </a:pPr>
            <a:r>
              <a:t>ELEMENTS OF SPEED</a:t>
            </a:r>
            <a:br/>
            <a:r>
              <a:t>速度的本源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9768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 sz="1400" b="0">
                <a:solidFill>
                  <a:srgbClr val="BBBBBB"/>
                </a:solidFill>
              </a:defRPr>
            </a:pPr>
            <a:r>
              <a:t>不是展示一台车，而是解构「速度」本身。</a:t>
            </a:r>
            <a:br/>
            <a:r>
              <a:t>将空气、火焰、声音、光影——速度的四种本源元素——转化为观众可感知的沉浸式体验。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37373"/>
                </a:solidFill>
                <a:latin typeface="Menlo"/>
              </a:defRPr>
            </a:pPr>
            <a:r>
              <a:t>06 / &lt;function T at 0x107ecce00&gt; · 创意系统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34747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37373"/>
                </a:solidFill>
                <a:latin typeface="Menlo"/>
              </a:defRPr>
            </a:pPr>
            <a:r>
              <a:t>CREATIVE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548640" cy="381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2600" b="0">
                <a:solidFill>
                  <a:srgbClr val="FFFFFF"/>
                </a:solidFill>
              </a:defRPr>
            </a:pPr>
            <a:r>
              <a:t>四大速度元素 · 构建完整体验系统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5303520" cy="254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C49A2A"/>
                </a:solidFill>
              </a:defRPr>
            </a:pPr>
            <a:r>
              <a:t>WIND · 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06040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defRPr sz="1000" b="0">
                <a:solidFill>
                  <a:srgbClr val="FFFFFF"/>
                </a:solidFill>
              </a:defRPr>
            </a:pPr>
            <a:r>
              <a:t>空气动力学雕塑装置</a:t>
            </a:r>
            <a:br/>
            <a:r>
              <a:t>激光切割的空气漩涡</a:t>
            </a:r>
            <a:br/>
            <a:r>
              <a:t>贯穿全场的气流走廊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606040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defRPr sz="900" b="0">
                <a:solidFill>
                  <a:srgbClr val="737373"/>
                </a:solidFill>
              </a:defRPr>
            </a:pPr>
            <a:r>
              <a:t>以风洞实验室为灵感，</a:t>
            </a:r>
            <a:br/>
            <a:r>
              <a:t>观众穿过时感受</a:t>
            </a:r>
            <a:br/>
            <a:r>
              <a:t>速度的阻力与推力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2011680"/>
            <a:ext cx="5303520" cy="254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2148840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C49A2A"/>
                </a:solidFill>
              </a:defRPr>
            </a:pPr>
            <a:r>
              <a:t>FIRE · 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2606040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defRPr sz="1000" b="0">
                <a:solidFill>
                  <a:srgbClr val="FFFFFF"/>
                </a:solidFill>
              </a:defRPr>
            </a:pPr>
            <a:r>
              <a:t>火焰粒子特效幕墙</a:t>
            </a:r>
            <a:br/>
            <a:r>
              <a:t>点火仪式中的机械臂</a:t>
            </a:r>
            <a:br/>
            <a:r>
              <a:t>LED火焰矩阵实时渲染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2606040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defRPr sz="900" b="0">
                <a:solidFill>
                  <a:srgbClr val="737373"/>
                </a:solidFill>
              </a:defRPr>
            </a:pPr>
            <a:r>
              <a:t>引擎点火的瞬间</a:t>
            </a:r>
            <a:br/>
            <a:r>
              <a:t>被放大为一场</a:t>
            </a:r>
            <a:br/>
            <a:r>
              <a:t>光影与热浪的仪式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297680"/>
            <a:ext cx="5303520" cy="254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434840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C49A2A"/>
                </a:solidFill>
              </a:defRPr>
            </a:pPr>
            <a:r>
              <a:t>SOUND · 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892040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defRPr sz="1000" b="0">
                <a:solidFill>
                  <a:srgbClr val="FFFFFF"/>
                </a:solidFill>
              </a:defRPr>
            </a:pPr>
            <a:r>
              <a:t>3D环绕声场系统</a:t>
            </a:r>
            <a:br/>
            <a:r>
              <a:t>发动机音频可视化</a:t>
            </a:r>
            <a:br/>
            <a:r>
              <a:t>现场交响乐团演绎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4892040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defRPr sz="900" b="0">
                <a:solidFill>
                  <a:srgbClr val="737373"/>
                </a:solidFill>
              </a:defRPr>
            </a:pPr>
            <a:r>
              <a:t>水平对置六缸引擎</a:t>
            </a:r>
            <a:br/>
            <a:r>
              <a:t>的声浪，经过重新</a:t>
            </a:r>
            <a:br/>
            <a:r>
              <a:t>编曲成为交响乐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4297680"/>
            <a:ext cx="5303520" cy="254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4434840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C49A2A"/>
                </a:solidFill>
              </a:defRPr>
            </a:pPr>
            <a:r>
              <a:t>LIGHT · 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4892040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defRPr sz="1000" b="0">
                <a:solidFill>
                  <a:srgbClr val="FFFFFF"/>
                </a:solidFill>
              </a:defRPr>
            </a:pPr>
            <a:r>
              <a:t>光速隧道入口</a:t>
            </a:r>
            <a:br/>
            <a:r>
              <a:t>全息投影舞台</a:t>
            </a:r>
            <a:br/>
            <a:r>
              <a:t>激光矩阵灯光秀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4892040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defRPr sz="900" b="0">
                <a:solidFill>
                  <a:srgbClr val="737373"/>
                </a:solidFill>
              </a:defRPr>
            </a:pPr>
            <a:r>
              <a:t>光的速度=速度的极限</a:t>
            </a:r>
            <a:br/>
            <a:r>
              <a:t>用光作为全场的</a:t>
            </a:r>
            <a:br/>
            <a:r>
              <a:t>叙事引导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37373"/>
                </a:solidFill>
                <a:latin typeface="Menlo"/>
              </a:defRPr>
            </a:pPr>
            <a:r>
              <a:t>07 / &lt;function T at 0x107ecce00&gt; · 视觉识别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34747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37373"/>
                </a:solidFill>
                <a:latin typeface="Menlo"/>
              </a:defRPr>
            </a:pPr>
            <a:r>
              <a:t>VISUAL IDENTITY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548640" cy="381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2800" b="0">
                <a:solidFill>
                  <a:srgbClr val="0D0D0D"/>
                </a:solidFill>
              </a:defRPr>
            </a:pPr>
            <a:r>
              <a:t>视觉识别系统 · Elements of Speed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1792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37373"/>
                </a:solidFill>
                <a:latin typeface="Menlo"/>
              </a:defRPr>
            </a:pPr>
            <a:r>
              <a:t>● 主色: Porsche Gold #C49A2A  +  辅助: Obsidian Black / Speed Silver / Brake Red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011680"/>
            <a:ext cx="2011680" cy="164592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011680"/>
            <a:ext cx="2011680" cy="1645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84048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37373"/>
                </a:solidFill>
                <a:latin typeface="Menlo"/>
              </a:defRPr>
            </a:pPr>
            <a:r>
              <a:t>GOLD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0D0D0D"/>
                </a:solidFill>
              </a:defRPr>
            </a:pPr>
            <a:r>
              <a:t>Porsche Crest Gold · 主色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2011680"/>
            <a:ext cx="2011680" cy="164592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0" y="2011680"/>
            <a:ext cx="2011680" cy="1645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384048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37373"/>
                </a:solidFill>
                <a:latin typeface="Menlo"/>
              </a:defRPr>
            </a:pPr>
            <a:r>
              <a:t>BLACK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11480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0D0D0D"/>
                </a:solidFill>
              </a:defRPr>
            </a:pPr>
            <a:r>
              <a:t>Obsidian Black · 背景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011680"/>
            <a:ext cx="2011680" cy="1645920"/>
          </a:xfrm>
          <a:prstGeom prst="rect">
            <a:avLst/>
          </a:prstGeom>
          <a:solidFill>
            <a:srgbClr val="A8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2011680"/>
            <a:ext cx="2011680" cy="1645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84048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37373"/>
                </a:solidFill>
                <a:latin typeface="Menlo"/>
              </a:defRPr>
            </a:pPr>
            <a:r>
              <a:t>SILVER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11480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0D0D0D"/>
                </a:solidFill>
              </a:defRPr>
            </a:pPr>
            <a:r>
              <a:t>Speed Silver · 辅助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2011680"/>
            <a:ext cx="2011680" cy="1645920"/>
          </a:xfrm>
          <a:prstGeom prst="rect">
            <a:avLst/>
          </a:prstGeom>
          <a:solidFill>
            <a:srgbClr val="C83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0" y="2011680"/>
            <a:ext cx="2011680" cy="1645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384048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37373"/>
                </a:solidFill>
                <a:latin typeface="Menlo"/>
              </a:defRPr>
            </a:pPr>
            <a:r>
              <a:t>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411480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0D0D0D"/>
                </a:solidFill>
              </a:defRPr>
            </a:pPr>
            <a:r>
              <a:t>Brake Red · 强调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75488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37373"/>
                </a:solidFill>
                <a:latin typeface="Menlo"/>
              </a:defRPr>
            </a:pPr>
            <a:r>
              <a:t>TYPOGRAPHY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2920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D0D0D"/>
                </a:solidFill>
              </a:defRPr>
            </a:pPr>
            <a:r>
              <a:t>Porsche Next · 标题  /  Helvetica Now · 正文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39496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737373"/>
                </a:solidFill>
              </a:defRPr>
            </a:pPr>
            <a:r>
              <a:t>中文标题: 思源黑体 Heavy   |   正文: 思源黑体 Regular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37373"/>
                </a:solidFill>
                <a:latin typeface="Menlo"/>
              </a:defRPr>
            </a:pPr>
            <a:r>
              <a:t>08 / &lt;function T at 0x107ecce00&gt; · 空间策略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34747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37373"/>
                </a:solidFill>
                <a:latin typeface="Menlo"/>
              </a:defRPr>
            </a:pPr>
            <a:r>
              <a:t>VENUE &amp; SPACE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548640" cy="381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2800" b="0">
                <a:solidFill>
                  <a:srgbClr val="FFFFFF"/>
                </a:solidFill>
              </a:defRPr>
            </a:pPr>
            <a:r>
              <a:t>空间叙事：四个速度维度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37373"/>
                </a:solidFill>
                <a:latin typeface="Menlo"/>
              </a:defRPr>
            </a:pPr>
            <a:r>
              <a:t>上海西岸艺术中心 · 主馆 2000㎡  |  层高18m  |  可容纳1200人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77440"/>
            <a:ext cx="5303520" cy="54864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46888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49A2A"/>
                </a:solidFill>
              </a:defRPr>
            </a:pPr>
            <a:r>
              <a:t>ZONE A · 速度之门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46888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A8A8A8"/>
                </a:solidFill>
                <a:latin typeface="Menlo"/>
              </a:defRPr>
            </a:pPr>
            <a:r>
              <a:t>前厅 300㎡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46888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defRPr sz="1000" b="0">
                <a:solidFill>
                  <a:srgbClr val="BBBBBB"/>
                </a:solidFill>
              </a:defRPr>
            </a:pPr>
            <a:r>
              <a:t>光速隧道入口</a:t>
            </a:r>
            <a:br/>
            <a:r>
              <a:t>迎宾 &amp; 红毯 &amp; 拍照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2377440"/>
            <a:ext cx="5303520" cy="54864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246888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49A2A"/>
                </a:solidFill>
              </a:defRPr>
            </a:pPr>
            <a:r>
              <a:t>ZONE B · 引擎之心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246888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A8A8A8"/>
                </a:solidFill>
                <a:latin typeface="Menlo"/>
              </a:defRPr>
            </a:pPr>
            <a:r>
              <a:t>主厅 800㎡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64040" y="246888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defRPr sz="1000" b="0">
                <a:solidFill>
                  <a:srgbClr val="BBBBBB"/>
                </a:solidFill>
              </a:defRPr>
            </a:pPr>
            <a:r>
              <a:t>主舞台 &amp; 360°环幕</a:t>
            </a:r>
            <a:br/>
            <a:r>
              <a:t>交响乐团 &amp; 激光矩阵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246120"/>
            <a:ext cx="5303520" cy="54864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33756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49A2A"/>
                </a:solidFill>
              </a:defRPr>
            </a:pPr>
            <a:r>
              <a:t>ZONE C · 驾控之域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333756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A8A8A8"/>
                </a:solidFill>
                <a:latin typeface="Menlo"/>
              </a:defRPr>
            </a:pPr>
            <a:r>
              <a:t>东翼 400㎡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333756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defRPr sz="1000" b="0">
                <a:solidFill>
                  <a:srgbClr val="BBBBBB"/>
                </a:solidFill>
              </a:defRPr>
            </a:pPr>
            <a:r>
              <a:t>驾驶模拟器</a:t>
            </a:r>
            <a:br/>
            <a:r>
              <a:t>定制化体验区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246120"/>
            <a:ext cx="5303520" cy="54864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333756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49A2A"/>
                </a:solidFill>
              </a:defRPr>
            </a:pPr>
            <a:r>
              <a:t>ZONE D · 荣耀之巅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333756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A8A8A8"/>
                </a:solidFill>
                <a:latin typeface="Menlo"/>
              </a:defRPr>
            </a:pPr>
            <a:r>
              <a:t>二层 500㎡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40" y="333756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defRPr sz="1000" b="0">
                <a:solidFill>
                  <a:srgbClr val="BBBBBB"/>
                </a:solidFill>
              </a:defRPr>
            </a:pPr>
            <a:r>
              <a:t>VIP酒廊 &amp; 露台</a:t>
            </a:r>
            <a:br/>
            <a:r>
              <a:t>私享品鉴 &amp; 社交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389120"/>
            <a:ext cx="10972800" cy="127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572000"/>
            <a:ext cx="10972800" cy="6858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572000"/>
            <a:ext cx="10972800" cy="254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70916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</a:defRPr>
            </a:pPr>
            <a:r>
              <a:t>▸ 场地: 上海西岸艺术中心主馆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470916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</a:defRPr>
            </a:pPr>
            <a:r>
              <a:t>▸ 面积: 2,000 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470916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</a:defRPr>
            </a:pPr>
            <a:r>
              <a:t>▸ 层高: 18m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470916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</a:defRPr>
            </a:pPr>
            <a:r>
              <a:t>▸ 容量: 1,200 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37373"/>
                </a:solidFill>
                <a:latin typeface="Menlo"/>
              </a:defRPr>
            </a:pPr>
            <a:r>
              <a:t>09 / &lt;function T at 0x107ecce00&gt; · 速度之门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34747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37373"/>
                </a:solidFill>
                <a:latin typeface="Menlo"/>
              </a:defRPr>
            </a:pPr>
            <a:r>
              <a:t>ZONE A · ENTRANCE</a:t>
            </a:r>
          </a:p>
        </p:txBody>
      </p:sp>
      <p:pic>
        <p:nvPicPr>
          <p:cNvPr id="5" name="Picture 4" descr="02-entra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74320"/>
            <a:ext cx="12191695" cy="68578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960120"/>
            <a:ext cx="548640" cy="381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9728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3200" b="0">
                <a:solidFill>
                  <a:srgbClr val="FFFFFF"/>
                </a:solidFill>
              </a:defRPr>
            </a:pPr>
            <a:r>
              <a:t>ZONE A · 速度之门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C49A2A"/>
                </a:solidFill>
                <a:latin typeface="Menlo"/>
              </a:defRPr>
            </a:pPr>
            <a:r>
              <a:t>光速隧道入口 × 保时捷盾徽投影 × 红毯仪式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743200"/>
            <a:ext cx="457200" cy="254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697480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C49A2A"/>
                </a:solidFill>
              </a:defRPr>
            </a:pPr>
            <a:r>
              <a:t>Light Speed Tunnel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69748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BBBBBB"/>
                </a:solidFill>
              </a:defRPr>
            </a:pPr>
            <a:r>
              <a:t>沉浸式LED光速隧道 · 120m走廊 · 速度感渐进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337560"/>
            <a:ext cx="457200" cy="254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291840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C49A2A"/>
                </a:solidFill>
              </a:defRPr>
            </a:pPr>
            <a:r>
              <a:t>Crest Projection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29184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BBBBBB"/>
                </a:solidFill>
              </a:defRPr>
            </a:pPr>
            <a:r>
              <a:t>地面盾徽投影 × 定制香氛 · 第一印象定调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931920"/>
            <a:ext cx="457200" cy="254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886200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C49A2A"/>
                </a:solidFill>
              </a:defRPr>
            </a:pPr>
            <a:r>
              <a:t>Red Carpet Moment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88620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BBBBBB"/>
                </a:solidFill>
              </a:defRPr>
            </a:pPr>
            <a:r>
              <a:t>定点摄影 × 社交媒体即时输出 · UGC传播起点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760720"/>
            <a:ext cx="10972800" cy="502920"/>
          </a:xfrm>
          <a:prstGeom prst="rect">
            <a:avLst/>
          </a:prstGeom>
          <a:solidFill>
            <a:srgbClr val="0D0D0D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85216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37373"/>
                </a:solidFill>
                <a:latin typeface="Menlo"/>
              </a:defRPr>
            </a:pPr>
            <a:r>
              <a:t>◈ 设计效果图由 AI 生成  |  Seedream 4.5  |  仅创意方向示意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37373"/>
                </a:solidFill>
                <a:latin typeface="Menlo"/>
              </a:defRPr>
            </a:pPr>
            <a:r>
              <a:t>10 / &lt;function T at 0x107ecce00&gt; · 引擎之心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34747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37373"/>
                </a:solidFill>
                <a:latin typeface="Menlo"/>
              </a:defRPr>
            </a:pPr>
            <a:r>
              <a:t>ZONE B · MAIN STAGE</a:t>
            </a:r>
          </a:p>
        </p:txBody>
      </p:sp>
      <p:pic>
        <p:nvPicPr>
          <p:cNvPr id="5" name="Picture 4" descr="01-st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57200"/>
            <a:ext cx="12191695" cy="68578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960120"/>
            <a:ext cx="548640" cy="381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9728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3200" b="0">
                <a:solidFill>
                  <a:srgbClr val="FFFFFF"/>
                </a:solidFill>
              </a:defRPr>
            </a:pPr>
            <a:r>
              <a:t>ZONE B · 引擎之心 · 主舞台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C49A2A"/>
                </a:solidFill>
                <a:latin typeface="Menlo"/>
              </a:defRPr>
            </a:pPr>
            <a:r>
              <a:t>911 GT3 旋转舞台 × 360°环幕 × 交响乐团 × 激光矩阵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0" y="2743200"/>
            <a:ext cx="457200" cy="254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2697480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C49A2A"/>
                </a:solidFill>
              </a:defRPr>
            </a:pPr>
            <a:r>
              <a:t>Hero Car Turntable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269748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BBBBBB"/>
                </a:solidFill>
              </a:defRPr>
            </a:pPr>
            <a:r>
              <a:t>911 GT3 定制涂装在旋转舞台上360°展示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0" y="3337560"/>
            <a:ext cx="457200" cy="254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3291840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C49A2A"/>
                </a:solidFill>
              </a:defRPr>
            </a:pPr>
            <a:r>
              <a:t>360° Curved LED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329184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BBBBBB"/>
                </a:solidFill>
              </a:defRPr>
            </a:pPr>
            <a:r>
              <a:t>环绕式LED巨幕实时渲染速度可视化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0" y="3931920"/>
            <a:ext cx="457200" cy="254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3886200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C49A2A"/>
                </a:solidFill>
              </a:defRPr>
            </a:pPr>
            <a:r>
              <a:t>Orchestra Pit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388620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BBBBBB"/>
                </a:solidFill>
              </a:defRPr>
            </a:pPr>
            <a:r>
              <a:t>上海交响乐团现场演绎引擎声浪交响版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760720"/>
            <a:ext cx="10972800" cy="502920"/>
          </a:xfrm>
          <a:prstGeom prst="rect">
            <a:avLst/>
          </a:prstGeom>
          <a:solidFill>
            <a:srgbClr val="0D0D0D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85216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37373"/>
                </a:solidFill>
                <a:latin typeface="Menlo"/>
              </a:defRPr>
            </a:pPr>
            <a:r>
              <a:t>◈ 设计效果图由 AI 生成  |  Seedream 4.5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37373"/>
                </a:solidFill>
                <a:latin typeface="Menlo"/>
              </a:defRPr>
            </a:pPr>
            <a:r>
              <a:t>11 / &lt;function T at 0x107ecce00&gt; · 驾控之域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34747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37373"/>
                </a:solidFill>
                <a:latin typeface="Menlo"/>
              </a:defRPr>
            </a:pPr>
            <a:r>
              <a:t>ZONE C+D · EXPERIENCE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548640" cy="381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2600" b="0">
                <a:solidFill>
                  <a:srgbClr val="FFFFFF"/>
                </a:solidFill>
              </a:defRPr>
            </a:pPr>
            <a:r>
              <a:t>ZONE C+D · 体验区 &amp; VIP酒廊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37373"/>
                </a:solidFill>
                <a:latin typeface="Menlo"/>
              </a:defRPr>
            </a:pPr>
            <a:r>
              <a:t> Seedream 4.5 · 2560×1440 效果图</a:t>
            </a:r>
          </a:p>
        </p:txBody>
      </p:sp>
      <p:pic>
        <p:nvPicPr>
          <p:cNvPr id="8" name="Picture 7" descr="03-experie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03120"/>
            <a:ext cx="5394960" cy="2286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3794760"/>
            <a:ext cx="5394960" cy="594360"/>
          </a:xfrm>
          <a:prstGeom prst="rect">
            <a:avLst/>
          </a:prstGeom>
          <a:solidFill>
            <a:srgbClr val="0D0D0D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858768"/>
            <a:ext cx="512064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49A2A"/>
                </a:solidFill>
              </a:defRPr>
            </a:pPr>
            <a:r>
              <a:t>C · 驾控之域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08736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defRPr sz="900" b="0">
                <a:solidFill>
                  <a:srgbClr val="BBBBBB"/>
                </a:solidFill>
              </a:defRPr>
            </a:pPr>
            <a:r>
              <a:t>驾驶模拟器 × 定制化体验</a:t>
            </a:r>
            <a:br/>
            <a:r>
              <a:t>赛车座椅 · 大屏沉浸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03120"/>
            <a:ext cx="5394960" cy="254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4-vi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103120"/>
            <a:ext cx="5394960" cy="2286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126480" y="3794760"/>
            <a:ext cx="5394960" cy="594360"/>
          </a:xfrm>
          <a:prstGeom prst="rect">
            <a:avLst/>
          </a:prstGeom>
          <a:solidFill>
            <a:srgbClr val="0D0D0D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3858768"/>
            <a:ext cx="512064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49A2A"/>
                </a:solidFill>
              </a:defRPr>
            </a:pPr>
            <a:r>
              <a:t>D · 荣耀之巅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408736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defRPr sz="900" b="0">
                <a:solidFill>
                  <a:srgbClr val="BBBBBB"/>
                </a:solidFill>
              </a:defRPr>
            </a:pPr>
            <a:r>
              <a:t>VIP酒廊 · 城市天际线</a:t>
            </a:r>
            <a:br/>
            <a:r>
              <a:t>香槟吧 · 私享品鉴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2103120"/>
            <a:ext cx="5394960" cy="254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5212080"/>
            <a:ext cx="10972800" cy="54864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5212080"/>
            <a:ext cx="10972800" cy="254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349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</a:defRPr>
            </a:pPr>
            <a:r>
              <a:t>◈ VIP邀请制  ·  限量200席  |  私享晚宴  ·  定制伴手礼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37373"/>
                </a:solidFill>
                <a:latin typeface="Menlo"/>
              </a:defRPr>
            </a:pPr>
            <a:r>
              <a:t>12 / &lt;function T at 0x107ecce00&gt; · 嘉宾旅程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34747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37373"/>
                </a:solidFill>
                <a:latin typeface="Menlo"/>
              </a:defRPr>
            </a:pPr>
            <a:r>
              <a:t>GUEST JOURNEY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548640" cy="381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3000" b="0">
                <a:solidFill>
                  <a:srgbClr val="0D0D0D"/>
                </a:solidFill>
              </a:defRPr>
            </a:pPr>
            <a:r>
              <a:t>120 分钟速度沉浸之旅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36576" cy="548640"/>
          </a:xfrm>
          <a:prstGeom prst="rect">
            <a:avLst/>
          </a:prstGeom>
          <a:solidFill>
            <a:srgbClr val="A8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2140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0D0D"/>
                </a:solidFill>
                <a:latin typeface="Menlo"/>
              </a:defRPr>
            </a:pPr>
            <a:r>
              <a:t>17:30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12140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0D0D"/>
                </a:solidFill>
              </a:defRPr>
            </a:pPr>
            <a:r>
              <a:t>速度之门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212140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737373"/>
                </a:solidFill>
              </a:defRPr>
            </a:pPr>
            <a:r>
              <a:t>红毯入场 · 打卡拍照 · UGC即时分享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" y="2788920"/>
            <a:ext cx="10972800" cy="9144"/>
          </a:xfrm>
          <a:prstGeom prst="rect">
            <a:avLst/>
          </a:prstGeom>
          <a:solidFill>
            <a:srgbClr val="CCC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880360"/>
            <a:ext cx="36576" cy="548640"/>
          </a:xfrm>
          <a:prstGeom prst="rect">
            <a:avLst/>
          </a:prstGeom>
          <a:solidFill>
            <a:srgbClr val="A8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898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0D0D"/>
                </a:solidFill>
                <a:latin typeface="Menlo"/>
              </a:defRPr>
            </a:pPr>
            <a:r>
              <a:t>18:00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89864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0D0D"/>
                </a:solidFill>
              </a:defRPr>
            </a:pPr>
            <a:r>
              <a:t>引擎之心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289864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737373"/>
                </a:solidFill>
              </a:defRPr>
            </a:pPr>
            <a:r>
              <a:t>交响乐暖场 · 高管致辞 · 产品亮相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" y="3566160"/>
            <a:ext cx="10972800" cy="9144"/>
          </a:xfrm>
          <a:prstGeom prst="rect">
            <a:avLst/>
          </a:prstGeom>
          <a:solidFill>
            <a:srgbClr val="CCC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657600"/>
            <a:ext cx="36576" cy="54864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67588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49A2A"/>
                </a:solidFill>
                <a:latin typeface="Menlo"/>
              </a:defRPr>
            </a:pPr>
            <a:r>
              <a:t>18:45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367588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0D0D"/>
                </a:solidFill>
              </a:defRPr>
            </a:pPr>
            <a:r>
              <a:t>火之仪式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367588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737373"/>
                </a:solidFill>
              </a:defRPr>
            </a:pPr>
            <a:r>
              <a:t>激光矩阵灯光秀 · 911 GT3点火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" y="4343400"/>
            <a:ext cx="10972800" cy="9144"/>
          </a:xfrm>
          <a:prstGeom prst="rect">
            <a:avLst/>
          </a:prstGeom>
          <a:solidFill>
            <a:srgbClr val="CCC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434840"/>
            <a:ext cx="36576" cy="548640"/>
          </a:xfrm>
          <a:prstGeom prst="rect">
            <a:avLst/>
          </a:prstGeom>
          <a:solidFill>
            <a:srgbClr val="A8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45312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0D0D"/>
                </a:solidFill>
                <a:latin typeface="Menlo"/>
              </a:defRPr>
            </a:pPr>
            <a:r>
              <a:t>19:15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445312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0D0D"/>
                </a:solidFill>
              </a:defRPr>
            </a:pPr>
            <a:r>
              <a:t>驾控之域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0" y="445312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737373"/>
                </a:solidFill>
              </a:defRPr>
            </a:pPr>
            <a:r>
              <a:t>驾驶模拟体验 · 定制化车机互动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" y="5120640"/>
            <a:ext cx="10972800" cy="9144"/>
          </a:xfrm>
          <a:prstGeom prst="rect">
            <a:avLst/>
          </a:prstGeom>
          <a:solidFill>
            <a:srgbClr val="CCC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5212080"/>
            <a:ext cx="36576" cy="548640"/>
          </a:xfrm>
          <a:prstGeom prst="rect">
            <a:avLst/>
          </a:prstGeom>
          <a:solidFill>
            <a:srgbClr val="A8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23036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0D0D"/>
                </a:solidFill>
                <a:latin typeface="Menlo"/>
              </a:defRPr>
            </a:pPr>
            <a:r>
              <a:t>20:00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523036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0D0D"/>
                </a:solidFill>
              </a:defRPr>
            </a:pPr>
            <a:r>
              <a:t>荣耀之巅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23360" y="523036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737373"/>
                </a:solidFill>
              </a:defRPr>
            </a:pPr>
            <a:r>
              <a:t>VIP晚宴 · 私享品鉴 · 社交时刻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" y="5897880"/>
            <a:ext cx="10972800" cy="9144"/>
          </a:xfrm>
          <a:prstGeom prst="rect">
            <a:avLst/>
          </a:prstGeom>
          <a:solidFill>
            <a:srgbClr val="CCC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37373"/>
                </a:solidFill>
                <a:latin typeface="Menlo"/>
              </a:defRPr>
            </a:pPr>
            <a:r>
              <a:t>13 / &lt;function T at 0x107ecce00&gt; · 传播策略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34747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37373"/>
                </a:solidFill>
                <a:latin typeface="Menlo"/>
              </a:defRPr>
            </a:pPr>
            <a:r>
              <a:t>SOCIAL &amp; KOL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548640" cy="381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2800" b="0">
                <a:solidFill>
                  <a:srgbClr val="FFFFFF"/>
                </a:solidFill>
              </a:defRPr>
            </a:pPr>
            <a:r>
              <a:t>三层传播矩阵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3474720" cy="254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49A2A"/>
                </a:solidFill>
              </a:defRPr>
            </a:pPr>
            <a:r>
              <a:t>TIER 1 · 官方矩阵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14600"/>
            <a:ext cx="3474720" cy="10972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 sz="1000" b="0">
                <a:solidFill>
                  <a:srgbClr val="BBBBBB"/>
                </a:solidFill>
              </a:defRPr>
            </a:pPr>
            <a:r>
              <a:t>Porsche Newsroom · 微博 · 微信 · 抖音 · 小红书</a:t>
            </a:r>
            <a:br/>
            <a:r>
              <a:t>直播: 视频号 + 抖音双平台4K推流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0332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C49A2A"/>
                </a:solidFill>
                <a:latin typeface="Menlo"/>
              </a:defRPr>
            </a:pPr>
            <a:r>
              <a:t>目标触达: 5亿+人次</a:t>
            </a:r>
            <a:br/>
            <a:r>
              <a:t>直播观看: 3000万+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42816" y="2011680"/>
            <a:ext cx="3474720" cy="254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42816" y="214884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49A2A"/>
                </a:solidFill>
              </a:defRPr>
            </a:pPr>
            <a:r>
              <a:t>TIER 2 · KOL矩阵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42816" y="2514600"/>
            <a:ext cx="3474720" cy="10972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 sz="1000" b="0">
                <a:solidFill>
                  <a:srgbClr val="BBBBBB"/>
                </a:solidFill>
              </a:defRPr>
            </a:pPr>
            <a:r>
              <a:t>50位汽车垂类KOL率先解读</a:t>
            </a:r>
            <a:br/>
            <a:r>
              <a:t>30位生活方式博主跨界扩圈</a:t>
            </a:r>
            <a:br/>
            <a:r>
              <a:t>20位科技大V深度解析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42816" y="370332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C49A2A"/>
                </a:solidFill>
                <a:latin typeface="Menlo"/>
              </a:defRPr>
            </a:pPr>
            <a:r>
              <a:t>内容产出: 200+条</a:t>
            </a:r>
            <a:br/>
            <a:r>
              <a:t>互动量: 500万+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36992" y="2011680"/>
            <a:ext cx="3474720" cy="254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36992" y="214884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49A2A"/>
                </a:solidFill>
              </a:defRPr>
            </a:pPr>
            <a:r>
              <a:t>TIER 3 · UGC裂变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36992" y="2514600"/>
            <a:ext cx="3474720" cy="10972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 sz="1000" b="0">
                <a:solidFill>
                  <a:srgbClr val="BBBBBB"/>
                </a:solidFill>
              </a:defRPr>
            </a:pPr>
            <a:r>
              <a:t>#速度的本源# 话题挑战</a:t>
            </a:r>
            <a:br/>
            <a:r>
              <a:t>红毯定点照片即时出片</a:t>
            </a:r>
            <a:br/>
            <a:r>
              <a:t>打卡+分享=限量NFT数字徽章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36992" y="370332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C49A2A"/>
                </a:solidFill>
                <a:latin typeface="Menlo"/>
              </a:defRPr>
            </a:pPr>
            <a:r>
              <a:t>UGC产出: 10,000+条</a:t>
            </a:r>
            <a:br/>
            <a:r>
              <a:t>社媒话题阅读: 2亿+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37373"/>
                </a:solidFill>
                <a:latin typeface="Menlo"/>
              </a:defRPr>
            </a:pPr>
            <a:r>
              <a:t>14 / &lt;function T at 0x107ecce00&gt; · 执行排期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34747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37373"/>
                </a:solidFill>
                <a:latin typeface="Menlo"/>
              </a:defRPr>
            </a:pPr>
            <a:r>
              <a:t>TIMELINE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548640" cy="381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3000" b="0">
                <a:solidFill>
                  <a:srgbClr val="0D0D0D"/>
                </a:solidFill>
              </a:defRPr>
            </a:pPr>
            <a:r>
              <a:t>8 周倒计时执行排期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54864" cy="566928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21408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49A2A"/>
                </a:solidFill>
                <a:latin typeface="Menlo"/>
              </a:defRPr>
            </a:pPr>
            <a:r>
              <a:t>W8-W7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121408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0D0D"/>
                </a:solidFill>
              </a:defRPr>
            </a:pPr>
            <a:r>
              <a:t>创意确认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2121408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37373"/>
                </a:solidFill>
              </a:defRPr>
            </a:pPr>
            <a:r>
              <a:t>Big Idea确认 · 视觉系统定稿 · 场地签约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" y="2724912"/>
            <a:ext cx="10972800" cy="9144"/>
          </a:xfrm>
          <a:prstGeom prst="rect">
            <a:avLst/>
          </a:prstGeom>
          <a:solidFill>
            <a:srgbClr val="CCC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816352"/>
            <a:ext cx="54864" cy="566928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834640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49A2A"/>
                </a:solidFill>
                <a:latin typeface="Menlo"/>
              </a:defRPr>
            </a:pPr>
            <a:r>
              <a:t>W6-W5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83464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0D0D"/>
                </a:solidFill>
              </a:defRPr>
            </a:pPr>
            <a:r>
              <a:t>设计深化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2834640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37373"/>
                </a:solidFill>
              </a:defRPr>
            </a:pPr>
            <a:r>
              <a:t>舞台工程图 · 灯光音响方案 · KOL签约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" y="3438144"/>
            <a:ext cx="10972800" cy="9144"/>
          </a:xfrm>
          <a:prstGeom prst="rect">
            <a:avLst/>
          </a:prstGeom>
          <a:solidFill>
            <a:srgbClr val="CCC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529584"/>
            <a:ext cx="54864" cy="566928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547872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49A2A"/>
                </a:solidFill>
                <a:latin typeface="Menlo"/>
              </a:defRPr>
            </a:pPr>
            <a:r>
              <a:t>W4-W3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3547872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0D0D"/>
                </a:solidFill>
              </a:defRPr>
            </a:pPr>
            <a:r>
              <a:t>内容制作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3547872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37373"/>
                </a:solidFill>
              </a:defRPr>
            </a:pPr>
            <a:r>
              <a:t>视频拍摄 · 交响乐编曲 · 数字内容开发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" y="4151376"/>
            <a:ext cx="10972800" cy="9144"/>
          </a:xfrm>
          <a:prstGeom prst="rect">
            <a:avLst/>
          </a:prstGeom>
          <a:solidFill>
            <a:srgbClr val="CCC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242816"/>
            <a:ext cx="54864" cy="566928"/>
          </a:xfrm>
          <a:prstGeom prst="rect">
            <a:avLst/>
          </a:prstGeom>
          <a:solidFill>
            <a:srgbClr val="C83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26110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8302E"/>
                </a:solidFill>
                <a:latin typeface="Menlo"/>
              </a:defRPr>
            </a:pPr>
            <a:r>
              <a:t>W2-W1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4261104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0D0D"/>
                </a:solidFill>
              </a:defRPr>
            </a:pPr>
            <a:r>
              <a:t>搭建彩排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0" y="4261104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37373"/>
                </a:solidFill>
              </a:defRPr>
            </a:pPr>
            <a:r>
              <a:t>场地搭建 · 设备联调 · 全流程彩排×3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" y="4864608"/>
            <a:ext cx="10972800" cy="9144"/>
          </a:xfrm>
          <a:prstGeom prst="rect">
            <a:avLst/>
          </a:prstGeom>
          <a:solidFill>
            <a:srgbClr val="CCC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4956048"/>
            <a:ext cx="54864" cy="566928"/>
          </a:xfrm>
          <a:prstGeom prst="rect">
            <a:avLst/>
          </a:prstGeom>
          <a:solidFill>
            <a:srgbClr val="C83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974336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8302E"/>
                </a:solidFill>
                <a:latin typeface="Menlo"/>
              </a:defRPr>
            </a:pPr>
            <a:r>
              <a:t>D-Day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11680" y="4974336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0D0D"/>
                </a:solidFill>
              </a:defRPr>
            </a:pPr>
            <a:r>
              <a:t>发布会日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23360" y="4974336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37373"/>
                </a:solidFill>
              </a:defRPr>
            </a:pPr>
            <a:r>
              <a:t>120分钟沉浸式速度盛宴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" y="5577840"/>
            <a:ext cx="10972800" cy="9144"/>
          </a:xfrm>
          <a:prstGeom prst="rect">
            <a:avLst/>
          </a:prstGeom>
          <a:solidFill>
            <a:srgbClr val="CCC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5669280"/>
            <a:ext cx="54864" cy="566928"/>
          </a:xfrm>
          <a:prstGeom prst="rect">
            <a:avLst/>
          </a:prstGeom>
          <a:solidFill>
            <a:srgbClr val="C83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5687568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8302E"/>
                </a:solidFill>
                <a:latin typeface="Menlo"/>
              </a:defRPr>
            </a:pPr>
            <a:r>
              <a:t>D+1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11680" y="5687568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0D0D"/>
                </a:solidFill>
              </a:defRPr>
            </a:pPr>
            <a:r>
              <a:t>传播放量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23360" y="5687568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37373"/>
                </a:solidFill>
              </a:defRPr>
            </a:pPr>
            <a:r>
              <a:t>KOL内容全面释放 · UGC引爆 · 媒体深度稿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" y="6291072"/>
            <a:ext cx="10972800" cy="9144"/>
          </a:xfrm>
          <a:prstGeom prst="rect">
            <a:avLst/>
          </a:prstGeom>
          <a:solidFill>
            <a:srgbClr val="CCC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6304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304" y="0"/>
            <a:ext cx="6096304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304" y="0"/>
            <a:ext cx="54864" cy="68580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37373"/>
                </a:solidFill>
                <a:latin typeface="Menlo"/>
              </a:defRPr>
            </a:pPr>
            <a:r>
              <a:t>15 / &lt;function T at 0x107ecce00&gt;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347472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37373"/>
                </a:solidFill>
                <a:latin typeface="Menlo"/>
              </a:defRPr>
            </a:pPr>
            <a:r>
              <a:t>CLOSING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49A2A"/>
                </a:solidFill>
                <a:latin typeface="Menlo"/>
              </a:defRPr>
            </a:pPr>
            <a:r>
              <a:t>WHY PORSCHE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5486400" cy="1828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4600" b="0">
                <a:solidFill>
                  <a:srgbClr val="FFFFFF"/>
                </a:solidFill>
              </a:defRPr>
            </a:pPr>
            <a:r>
              <a:t>速度，就是</a:t>
            </a:r>
            <a:br/>
            <a:r>
              <a:t>Porsche 的语言。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80560"/>
            <a:ext cx="502920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100" b="0">
                <a:solidFill>
                  <a:srgbClr val="BBBBBB"/>
                </a:solidFill>
              </a:defRPr>
            </a:pPr>
            <a:r>
              <a:t>当引擎声浪变成交响乐，当空气动力学变成灯光装置，</a:t>
            </a:r>
            <a:br/>
            <a:r>
              <a:t>当一次点火变成一场仪式——这就是 Elements of Speed。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669280"/>
            <a:ext cx="5029200" cy="127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85216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37373"/>
                </a:solidFill>
                <a:latin typeface="Menlo"/>
              </a:defRPr>
            </a:pPr>
            <a:r>
              <a:t>Youngs Group · 创意群  |  火山引擎 Seedream 4.5 效果图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47472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37373"/>
                </a:solidFill>
                <a:latin typeface="Menlo"/>
              </a:defRPr>
            </a:pPr>
            <a:r>
              <a:t>NEXT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347472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37373"/>
                </a:solidFill>
                <a:latin typeface="Menlo"/>
              </a:defRPr>
            </a:pPr>
            <a:r>
              <a:t>3 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371600"/>
            <a:ext cx="73152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D0D0D"/>
                </a:solidFill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139903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0D0D0D"/>
                </a:solidFill>
              </a:defRPr>
            </a:pPr>
            <a:r>
              <a:t>确认创意方向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178308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 sz="1000" b="0">
                <a:solidFill>
                  <a:srgbClr val="737373"/>
                </a:solidFill>
              </a:defRPr>
            </a:pPr>
            <a:r>
              <a:t>核心团队对齐 Big Idea</a:t>
            </a:r>
            <a:br/>
            <a:r>
              <a:t>及四大元素体验系统。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0" y="2560320"/>
            <a:ext cx="5029200" cy="12700"/>
          </a:xfrm>
          <a:prstGeom prst="rect">
            <a:avLst/>
          </a:prstGeom>
          <a:solidFill>
            <a:srgbClr val="CCC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3017520"/>
            <a:ext cx="73152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D0D0D"/>
                </a:solidFill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304495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0D0D0D"/>
                </a:solidFill>
              </a:defRPr>
            </a:pPr>
            <a:r>
              <a:t>场地与技术落地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342900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 sz="1000" b="0">
                <a:solidFill>
                  <a:srgbClr val="737373"/>
                </a:solidFill>
              </a:defRPr>
            </a:pPr>
            <a:r>
              <a:t>上海西岸艺术中心档期锁定</a:t>
            </a:r>
            <a:br/>
            <a:r>
              <a:t>舞台/灯光/音响供应商比价。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20" y="4206240"/>
            <a:ext cx="5029200" cy="12700"/>
          </a:xfrm>
          <a:prstGeom prst="rect">
            <a:avLst/>
          </a:prstGeom>
          <a:solidFill>
            <a:srgbClr val="CCC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4663440"/>
            <a:ext cx="73152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C49A2A"/>
                </a:solidFill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469087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C49A2A"/>
                </a:solidFill>
              </a:defRPr>
            </a:pPr>
            <a:r>
              <a:t>品牌方提案汇报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507492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 sz="1000" b="0">
                <a:solidFill>
                  <a:srgbClr val="737373"/>
                </a:solidFill>
              </a:defRPr>
            </a:pPr>
            <a:r>
              <a:t>向 Porsche China 品牌部</a:t>
            </a:r>
            <a:br/>
            <a:r>
              <a:t>提交完整创意方案。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5852160"/>
            <a:ext cx="5029200" cy="254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6446520"/>
            <a:ext cx="411480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37373"/>
                </a:solidFill>
                <a:latin typeface="Menlo"/>
              </a:defRPr>
            </a:pPr>
            <a:r>
              <a:t>→ END · PORSCHE 2026 CHINA LAUNCH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