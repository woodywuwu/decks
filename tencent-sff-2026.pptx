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booth-is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-274320"/>
            <a:ext cx="6858000" cy="38576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580"/>
                </a:solidFill>
                <a:latin typeface="Menlo"/>
              </a:defRPr>
            </a:pPr>
            <a:r>
              <a:t>TENCENT · SFF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6576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580"/>
                </a:solidFill>
                <a:latin typeface="Menlo"/>
              </a:defRPr>
            </a:pPr>
            <a:r>
              <a:t>01 /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66CC"/>
                </a:solidFill>
                <a:latin typeface="Menlo"/>
              </a:defRPr>
            </a:pPr>
            <a:r>
              <a:t>SINGAPORE FINTECH FESTIVAL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02920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4400" b="0">
                <a:solidFill>
                  <a:srgbClr val="FFFFFF"/>
                </a:solidFill>
              </a:defRPr>
            </a:pPr>
            <a:r>
              <a:t>腾讯金融科技</a:t>
            </a:r>
            <a:br/>
            <a:r>
              <a:t>36㎡ 四面开展位方案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74720"/>
            <a:ext cx="2743200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 b="0">
                <a:solidFill>
                  <a:srgbClr val="BBBBC0"/>
                </a:solidFill>
              </a:defRPr>
            </a:pPr>
            <a:r>
              <a:t>跨境支付 · 云计算 · 风控安全</a:t>
            </a:r>
            <a:br/>
            <a:r>
              <a:t>以"数字枢纽"为概念，打造四面开放的科技展示空间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580"/>
                </a:solidFill>
                <a:latin typeface="Menlo"/>
              </a:defRPr>
            </a:pPr>
            <a:r>
              <a:t>Tencent Fintech · Exhibition Design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94360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0066CC"/>
                </a:solidFill>
                <a:latin typeface="Menlo"/>
              </a:defRPr>
            </a:pPr>
            <a:r>
              <a:t>2026.06 · 含AI效果图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580"/>
                </a:solidFill>
                <a:latin typeface="Menlo"/>
              </a:defRPr>
            </a:pPr>
            <a:r>
              <a:t>02 / 06 · 品牌洞察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6576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580"/>
                </a:solidFill>
                <a:latin typeface="Menlo"/>
              </a:defRPr>
            </a:pPr>
            <a:r>
              <a:t>BRAND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600" b="0">
                <a:solidFill>
                  <a:srgbClr val="0D0D0D"/>
                </a:solidFill>
              </a:defRPr>
            </a:pPr>
            <a:r>
              <a:t>腾讯金融科技 · 三大参展业务线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4747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跨境支付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0D0D0D"/>
                </a:solidFill>
              </a:defRPr>
            </a:pPr>
            <a:r>
              <a:t>Tenpay Global · 微信支付国际版</a:t>
            </a:r>
            <a:br/>
            <a:r>
              <a:t>覆盖60+国家地区·日均交易峰值千万级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737580"/>
                </a:solidFill>
              </a:defRPr>
            </a:pPr>
            <a:r>
              <a:t>→ 展示跨境收单解决方案</a:t>
            </a:r>
            <a:br/>
            <a:r>
              <a:t>→ 实时汇率演示</a:t>
            </a:r>
            <a:br/>
            <a:r>
              <a:t>→ 海外商户入驻流程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1920240"/>
            <a:ext cx="34747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20116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云计算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2816" y="24688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0D0D0D"/>
                </a:solidFill>
              </a:defRPr>
            </a:pPr>
            <a:r>
              <a:t>Tencent Cloud Fintech</a:t>
            </a:r>
            <a:br/>
            <a:r>
              <a:t>T3+金融级数据中心·300+合规认证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30175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737580"/>
                </a:solidFill>
              </a:defRPr>
            </a:pPr>
            <a:r>
              <a:t>→ 金融云架构可视化</a:t>
            </a:r>
            <a:br/>
            <a:r>
              <a:t>→ 实时风控引擎演示</a:t>
            </a:r>
            <a:br/>
            <a:r>
              <a:t>→ 银行核心系统上云案例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36992" y="1920240"/>
            <a:ext cx="34747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20116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风控安全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24688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000" b="0">
                <a:solidFill>
                  <a:srgbClr val="0D0D0D"/>
                </a:solidFill>
              </a:defRPr>
            </a:pPr>
            <a:r>
              <a:t>天御/灵鲲风控体系</a:t>
            </a:r>
            <a:br/>
            <a:r>
              <a:t>毫秒级风险识别·99.99%可用性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30175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737580"/>
                </a:solidFill>
              </a:defRPr>
            </a:pPr>
            <a:r>
              <a:t>→ 反欺诈实时检测</a:t>
            </a:r>
            <a:br/>
            <a:r>
              <a:t>→ KYC/AML合规展示</a:t>
            </a:r>
            <a:br/>
            <a:r>
              <a:t>→ 数据安全白皮书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89120"/>
            <a:ext cx="10972800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 sz="1200" b="0">
                <a:solidFill>
                  <a:srgbClr val="0D0D0D"/>
                </a:solidFill>
              </a:defRPr>
            </a:pPr>
            <a:r>
              <a:t>展位目标: 36㎡四面开放 → 最大化人流触达 → 3条业务线各有独立演示区 → 收集200+有效商务线索 → 品牌感知提升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580"/>
                </a:solidFill>
                <a:latin typeface="Menlo"/>
              </a:defRPr>
            </a:pPr>
            <a:r>
              <a:t>03 / 06 · 创意概念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6576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580"/>
                </a:solidFill>
                <a:latin typeface="Menlo"/>
              </a:defRPr>
            </a:pPr>
            <a:r>
              <a:t>CREATIVE CONCEPT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66CC"/>
                </a:solidFill>
                <a:latin typeface="Menlo"/>
              </a:defRPr>
            </a:pPr>
            <a:r>
              <a:t>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914400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5200" b="0">
                <a:solidFill>
                  <a:srgbClr val="FFFFFF"/>
                </a:solidFill>
              </a:defRPr>
            </a:pPr>
            <a:r>
              <a:t>DIGITAL HUB</a:t>
            </a:r>
            <a:br/>
            <a:r>
              <a:t>数字枢纽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defRPr sz="1400" b="0">
                <a:solidFill>
                  <a:srgbClr val="BBBBC0"/>
                </a:solidFill>
              </a:defRPr>
            </a:pPr>
            <a:r>
              <a:t>四面开放的展位不是一个展示台，而是一个连接器。</a:t>
            </a:r>
            <a:br/>
            <a:r>
              <a:t>连接商户与支付、银行与云、监管与合规、参观者与腾讯科技生态。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66CC"/>
                </a:solidFill>
              </a:defRPr>
            </a:pPr>
            <a:r>
              <a:t>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  <a:defRPr sz="1400" b="0">
                <a:solidFill>
                  <a:srgbClr val="FFFFFF"/>
                </a:solidFill>
              </a:defRPr>
            </a:pPr>
            <a:r>
              <a:t>四面开放</a:t>
            </a:r>
            <a:br/>
            <a:r>
              <a:t>无死角触达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57200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66CC"/>
                </a:solidFill>
              </a:defRPr>
            </a:pPr>
            <a:r>
              <a:t>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8920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  <a:defRPr sz="1400" b="0">
                <a:solidFill>
                  <a:srgbClr val="FFFFFF"/>
                </a:solidFill>
              </a:defRPr>
            </a:pPr>
            <a:r>
              <a:t>三区独立</a:t>
            </a:r>
            <a:br/>
            <a:r>
              <a:t>业务清晰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57200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66CC"/>
                </a:solidFill>
              </a:defRPr>
            </a:pPr>
            <a:r>
              <a:t>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8920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  <a:defRPr sz="1400" b="0">
                <a:solidFill>
                  <a:srgbClr val="FFFFFF"/>
                </a:solidFill>
              </a:defRPr>
            </a:pPr>
            <a:r>
              <a:t>数据可视化</a:t>
            </a:r>
            <a:br/>
            <a:r>
              <a:t>信任可视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457200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66CC"/>
                </a:solidFill>
              </a:defRPr>
            </a:pPr>
            <a: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48920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  <a:defRPr sz="1400" b="0">
                <a:solidFill>
                  <a:srgbClr val="FFFFFF"/>
                </a:solidFill>
              </a:defRPr>
            </a:pPr>
            <a:r>
              <a:t>蓝白极简</a:t>
            </a:r>
            <a:br/>
            <a:r>
              <a:t>科技温度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580"/>
                </a:solidFill>
                <a:latin typeface="Menlo"/>
              </a:defRPr>
            </a:pPr>
            <a:r>
              <a:t>04 / 06 · 空间布局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6576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580"/>
                </a:solidFill>
                <a:latin typeface="Menlo"/>
              </a:defRPr>
            </a:pPr>
            <a:r>
              <a:t>SPACE &amp;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0D0D0D"/>
                </a:solidFill>
              </a:defRPr>
            </a:pPr>
            <a:r>
              <a:t>36㎡ 四面开放 · 四区动线规划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6858000" cy="320040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37580"/>
                </a:solidFill>
                <a:latin typeface="Menlo"/>
              </a:defRPr>
            </a:pPr>
            <a:r>
              <a:t>SPACE LAYOUT DIAGRAM</a:t>
            </a:r>
            <a:br/>
            <a:r>
              <a:t>(方案图/3D平面图预留位置)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828800"/>
            <a:ext cx="3840480" cy="1005840"/>
          </a:xfrm>
          <a:prstGeom prst="rect">
            <a:avLst/>
          </a:prstGeom>
          <a:solidFill>
            <a:srgbClr val="E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828800"/>
            <a:ext cx="45720" cy="10058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901952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0D0D"/>
                </a:solidFill>
              </a:defRPr>
            </a:pPr>
            <a:r>
              <a:t>A · 迎宾区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190195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66CC"/>
                </a:solidFill>
                <a:latin typeface="Menlo"/>
              </a:defRPr>
            </a:pPr>
            <a:r>
              <a:t>4.5㎡ · 正前方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176272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737580"/>
                </a:solidFill>
              </a:defRPr>
            </a:pPr>
            <a:r>
              <a:t>曲面LED欢迎屏</a:t>
            </a:r>
            <a:br/>
            <a:r>
              <a:t>品牌视频+实时数据</a:t>
            </a:r>
            <a:br/>
            <a:r>
              <a:t>触达率最高面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017520"/>
            <a:ext cx="3840480" cy="1005840"/>
          </a:xfrm>
          <a:prstGeom prst="rect">
            <a:avLst/>
          </a:prstGeom>
          <a:solidFill>
            <a:srgbClr val="E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3017520"/>
            <a:ext cx="45720" cy="10058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090672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0D0D"/>
                </a:solidFill>
              </a:defRPr>
            </a:pPr>
            <a:r>
              <a:t>B · 演示区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09067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66CC"/>
                </a:solidFill>
                <a:latin typeface="Menlo"/>
              </a:defRPr>
            </a:pPr>
            <a:r>
              <a:t>12㎡ · 中央+两侧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364992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737580"/>
                </a:solidFill>
              </a:defRPr>
            </a:pPr>
            <a:r>
              <a:t>三块交互触控屏</a:t>
            </a:r>
            <a:br/>
            <a:r>
              <a:t>跨境支付/云/风控</a:t>
            </a:r>
            <a:br/>
            <a:r>
              <a:t>三个独立演示站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206240"/>
            <a:ext cx="3840480" cy="1005840"/>
          </a:xfrm>
          <a:prstGeom prst="rect">
            <a:avLst/>
          </a:prstGeom>
          <a:solidFill>
            <a:srgbClr val="E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4206240"/>
            <a:ext cx="45720" cy="10058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279392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0D0D"/>
                </a:solidFill>
              </a:defRPr>
            </a:pPr>
            <a:r>
              <a:t>C · 洽谈区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427939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66CC"/>
                </a:solidFill>
                <a:latin typeface="Menlo"/>
              </a:defRPr>
            </a:pPr>
            <a:r>
              <a:t>9㎡ · 后方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553712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737580"/>
                </a:solidFill>
              </a:defRPr>
            </a:pPr>
            <a:r>
              <a:t>半开放洽谈室</a:t>
            </a:r>
            <a:br/>
            <a:r>
              <a:t>2组沙发+茶歇</a:t>
            </a:r>
            <a:br/>
            <a:r>
              <a:t>隐私·舒适·专业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5394960"/>
            <a:ext cx="3840480" cy="1005840"/>
          </a:xfrm>
          <a:prstGeom prst="rect">
            <a:avLst/>
          </a:prstGeom>
          <a:solidFill>
            <a:srgbClr val="EC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5394960"/>
            <a:ext cx="45720" cy="10058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5468112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0D0D"/>
                </a:solidFill>
              </a:defRPr>
            </a:pPr>
            <a:r>
              <a:t>D · 数据墙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546811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66CC"/>
                </a:solidFill>
                <a:latin typeface="Menlo"/>
              </a:defRPr>
            </a:pPr>
            <a:r>
              <a:t>10.5㎡ · 贯穿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5742432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737580"/>
                </a:solidFill>
              </a:defRPr>
            </a:pPr>
            <a:r>
              <a:t>整面LED数据可视化</a:t>
            </a:r>
            <a:br/>
            <a:r>
              <a:t>实时交易图·风控热力图</a:t>
            </a:r>
            <a:br/>
            <a:r>
              <a:t>最强视觉锚点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booth-is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580"/>
                </a:solidFill>
                <a:latin typeface="Menlo"/>
              </a:defRPr>
            </a:pPr>
            <a:r>
              <a:t>05 / 06 · 展位效果图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6576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580"/>
                </a:solidFill>
                <a:latin typeface="Menlo"/>
              </a:defRPr>
            </a:pPr>
            <a:r>
              <a:t>BOOTH RENDER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548640" cy="381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FFFFFF"/>
                </a:solidFill>
              </a:defRPr>
            </a:pPr>
            <a:r>
              <a:t>36㎡ 四面开展位 · 数字枢纽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66CC"/>
                </a:solidFill>
                <a:latin typeface="Menlo"/>
              </a:defRPr>
            </a:pPr>
            <a:r>
              <a:t>Seedream 4.5 AI生成效果图 · 仅创意方向示意</a:t>
            </a:r>
          </a:p>
        </p:txBody>
      </p:sp>
      <p:pic>
        <p:nvPicPr>
          <p:cNvPr id="9" name="Picture 8" descr="02-demo-zo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11680"/>
            <a:ext cx="5303520" cy="298323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2926080"/>
            <a:ext cx="457200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89864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LED Welcome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898648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BBBC0"/>
                </a:solidFill>
              </a:defRPr>
            </a:pPr>
            <a:r>
              <a:t>曲面屏·品牌视频+实时数据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457200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4728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Interactive Demo Stations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447288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BBBC0"/>
                </a:solidFill>
              </a:defRPr>
            </a:pPr>
            <a:r>
              <a:t>三块触控屏·三大业务线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457200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9959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Data Wall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995928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BBBC0"/>
                </a:solidFill>
              </a:defRPr>
            </a:pPr>
            <a:r>
              <a:t>实时交易可视化·风控热力图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760720"/>
            <a:ext cx="12191695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BBBC0"/>
                </a:solidFill>
              </a:defRPr>
            </a:pPr>
            <a:r>
              <a:t>36㎡ · 四面开放 · Tencent Blue / White · Seedream 4.5 效果图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900" b="0">
                <a:solidFill>
                  <a:srgbClr val="737580"/>
                </a:solidFill>
              </a:defRPr>
            </a:pPr>
            <a:r>
              <a:t>设计要点: 主入口LED曲面屏居中 · 三区演示站环绕 · 后方半开放洽谈室 · 数据墙贯穿顶部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304" y="0"/>
            <a:ext cx="54864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580"/>
                </a:solidFill>
                <a:latin typeface="Menlo"/>
              </a:defRPr>
            </a:pPr>
            <a:r>
              <a:t>06 / 06 · 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36576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737580"/>
                </a:solidFill>
                <a:latin typeface="Menlo"/>
              </a:defRPr>
            </a:pPr>
            <a:r>
              <a:t>SUMMARY &amp;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66CC"/>
                </a:solidFill>
                <a:latin typeface="Menlo"/>
              </a:defRPr>
            </a:pPr>
            <a:r>
              <a:t>WHY THIS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FFFFFF"/>
                </a:solidFill>
              </a:defRPr>
            </a:pPr>
            <a:r>
              <a:t>数字枢纽,</a:t>
            </a:r>
            <a:br/>
            <a:r>
              <a:t>让腾讯科技</a:t>
            </a:r>
            <a:br/>
            <a:r>
              <a:t>看得见、摸得着。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defRPr sz="1100" b="0">
                <a:solidFill>
                  <a:srgbClr val="BBBBC0"/>
                </a:solidFill>
              </a:defRPr>
            </a:pPr>
            <a:r>
              <a:t>四面开放→触达最大化</a:t>
            </a:r>
            <a:br/>
            <a:r>
              <a:t>三区独立→业务线清晰</a:t>
            </a:r>
            <a:br/>
            <a:r>
              <a:t>数据可视化→信任可视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657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737580"/>
                </a:solidFill>
                <a:latin typeface="Menlo"/>
              </a:defRPr>
            </a:pPr>
            <a:r>
              <a:t>DELIVERABLES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280160"/>
            <a:ext cx="45720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3258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0D0D"/>
                </a:solidFill>
              </a:defRPr>
            </a:pPr>
            <a:r>
              <a:t>展位设计图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62763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1000" b="0">
                <a:solidFill>
                  <a:srgbClr val="737580"/>
                </a:solidFill>
              </a:defRPr>
            </a:pPr>
            <a:r>
              <a:t>3D效果图+平面图+施工图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377440"/>
            <a:ext cx="45720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42316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0D0D"/>
                </a:solidFill>
              </a:defRPr>
            </a:pPr>
            <a:r>
              <a:t>演示内容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2491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1000" b="0">
                <a:solidFill>
                  <a:srgbClr val="737580"/>
                </a:solidFill>
              </a:defRPr>
            </a:pPr>
            <a:r>
              <a:t>3套交互Demo+数据墙内容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3474720"/>
            <a:ext cx="45720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52044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0D0D"/>
                </a:solidFill>
              </a:defRPr>
            </a:pPr>
            <a:r>
              <a:t>物料清单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82219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1000" b="0">
                <a:solidFill>
                  <a:srgbClr val="737580"/>
                </a:solidFill>
              </a:defRPr>
            </a:pPr>
            <a:r>
              <a:t>结构·AV·灯具·家具·印刷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4572000"/>
            <a:ext cx="45720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461772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0D0D"/>
                </a:solidFill>
              </a:defRPr>
            </a:pPr>
            <a:r>
              <a:t>施工排期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91947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 sz="1000" b="0">
                <a:solidFill>
                  <a:srgbClr val="737580"/>
                </a:solidFill>
              </a:defRPr>
            </a:pPr>
            <a:r>
              <a:t>2天搭建+1天调试+D-Day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